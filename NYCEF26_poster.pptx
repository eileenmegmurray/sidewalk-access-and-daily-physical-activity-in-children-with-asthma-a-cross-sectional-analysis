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handoutMasterIdLst>
    <p:handoutMasterId r:id="rId8"/>
  </p:handoutMasterIdLst>
  <p:sldIdLst>
    <p:sldId id="256" r:id="rId6"/>
  </p:sldIdLst>
  <p:sldSz cx="43891200" cy="32918400"/>
  <p:notesSz cx="7010400" cy="9296400"/>
  <p:defaultTextStyle>
    <a:defPPr>
      <a:defRPr lang="en-US"/>
    </a:defPPr>
    <a:lvl1pPr algn="l" rtl="0" eaLnBrk="0" fontAlgn="base" hangingPunct="0">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1pPr>
    <a:lvl2pPr marL="457200" algn="l" rtl="0" eaLnBrk="0" fontAlgn="base" hangingPunct="0">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2pPr>
    <a:lvl3pPr marL="914400" algn="l" rtl="0" eaLnBrk="0" fontAlgn="base" hangingPunct="0">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3200" kern="1200">
        <a:solidFill>
          <a:schemeClr val="tx1"/>
        </a:solidFill>
        <a:latin typeface="Helvetica" pitchFamily="2" charset="0"/>
        <a:ea typeface="ＭＳ Ｐゴシック" panose="020B0600070205080204" pitchFamily="34" charset="-128"/>
        <a:cs typeface="+mn-cs"/>
      </a:defRPr>
    </a:lvl5pPr>
    <a:lvl6pPr marL="22860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6pPr>
    <a:lvl7pPr marL="27432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7pPr>
    <a:lvl8pPr marL="32004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8pPr>
    <a:lvl9pPr marL="3657600" algn="l" defTabSz="914400" rtl="0" eaLnBrk="1" latinLnBrk="0" hangingPunct="1">
      <a:defRPr sz="3200" kern="1200">
        <a:solidFill>
          <a:schemeClr val="tx1"/>
        </a:solidFill>
        <a:latin typeface="Helvetica"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840" userDrawn="1">
          <p15:clr>
            <a:srgbClr val="A4A3A4"/>
          </p15:clr>
        </p15:guide>
        <p15:guide id="2" orient="horz" pos="19632" userDrawn="1">
          <p15:clr>
            <a:srgbClr val="A4A3A4"/>
          </p15:clr>
        </p15:guide>
        <p15:guide id="3" orient="horz" pos="3729" userDrawn="1">
          <p15:clr>
            <a:srgbClr val="A4A3A4"/>
          </p15:clr>
        </p15:guide>
        <p15:guide id="4" orient="horz" pos="2129" userDrawn="1">
          <p15:clr>
            <a:srgbClr val="A4A3A4"/>
          </p15:clr>
        </p15:guide>
        <p15:guide id="5" pos="6459" userDrawn="1">
          <p15:clr>
            <a:srgbClr val="A4A3A4"/>
          </p15:clr>
        </p15:guide>
        <p15:guide id="6" pos="7467" userDrawn="1">
          <p15:clr>
            <a:srgbClr val="A4A3A4"/>
          </p15:clr>
        </p15:guide>
        <p15:guide id="7" pos="13392" userDrawn="1">
          <p15:clr>
            <a:srgbClr val="A4A3A4"/>
          </p15:clr>
        </p15:guide>
        <p15:guide id="8" pos="21291" userDrawn="1">
          <p15:clr>
            <a:srgbClr val="A4A3A4"/>
          </p15:clr>
        </p15:guide>
        <p15:guide id="9" pos="535" userDrawn="1">
          <p15:clr>
            <a:srgbClr val="A4A3A4"/>
          </p15:clr>
        </p15:guide>
        <p15:guide id="10" pos="14379" userDrawn="1">
          <p15:clr>
            <a:srgbClr val="A4A3A4"/>
          </p15:clr>
        </p15:guide>
        <p15:guide id="11" pos="20283" userDrawn="1">
          <p15:clr>
            <a:srgbClr val="A4A3A4"/>
          </p15:clr>
        </p15:guide>
        <p15:guide id="12" pos="2719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C9874B-21C3-CAF5-4669-C34C8E3E35DB}" name="Eileen Murray" initials="EM" userId="S::EILEEN.MURRAY46@login.cuny.edu::643dcd43-9942-4724-aded-f4024cbbd0e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728"/>
  </p:normalViewPr>
  <p:slideViewPr>
    <p:cSldViewPr snapToGrid="0">
      <p:cViewPr varScale="1">
        <p:scale>
          <a:sx n="21" d="100"/>
          <a:sy n="21" d="100"/>
        </p:scale>
        <p:origin x="1864" y="208"/>
      </p:cViewPr>
      <p:guideLst>
        <p:guide orient="horz" pos="840"/>
        <p:guide orient="horz" pos="19632"/>
        <p:guide orient="horz" pos="3729"/>
        <p:guide orient="horz" pos="2129"/>
        <p:guide pos="6459"/>
        <p:guide pos="7467"/>
        <p:guide pos="13392"/>
        <p:guide pos="21291"/>
        <p:guide pos="535"/>
        <p:guide pos="14379"/>
        <p:guide pos="20283"/>
        <p:guide pos="2719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6613CD-31B9-394C-E5E9-04EDC83236DC}"/>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atin typeface="Helvetica"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CA6E5CFB-3976-DCBC-A041-FB8D03B3BF17}"/>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atin typeface="Helvetica" charset="0"/>
                <a:ea typeface="ＭＳ Ｐゴシック" charset="-128"/>
              </a:defRPr>
            </a:lvl1pPr>
          </a:lstStyle>
          <a:p>
            <a:pPr>
              <a:defRPr/>
            </a:pPr>
            <a:fld id="{94286E7C-F3BD-634E-BF1A-6914600364E6}" type="datetimeFigureOut">
              <a:rPr lang="en-US"/>
              <a:pPr>
                <a:defRPr/>
              </a:pPr>
              <a:t>7/23/26</a:t>
            </a:fld>
            <a:endParaRPr lang="en-US"/>
          </a:p>
        </p:txBody>
      </p:sp>
      <p:sp>
        <p:nvSpPr>
          <p:cNvPr id="4" name="Footer Placeholder 3">
            <a:extLst>
              <a:ext uri="{FF2B5EF4-FFF2-40B4-BE49-F238E27FC236}">
                <a16:creationId xmlns:a16="http://schemas.microsoft.com/office/drawing/2014/main" id="{97065440-689A-91C1-E717-286388434B9D}"/>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atin typeface="Helvetica"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F83182E1-8979-43F4-9E52-0E6EDE8036BD}"/>
              </a:ext>
            </a:extLst>
          </p:cNvPr>
          <p:cNvSpPr>
            <a:spLocks noGrp="1"/>
          </p:cNvSpPr>
          <p:nvPr>
            <p:ph type="sldNum" sz="quarter" idx="3"/>
          </p:nvPr>
        </p:nvSpPr>
        <p:spPr>
          <a:xfrm>
            <a:off x="3970338" y="8829675"/>
            <a:ext cx="3038475" cy="466725"/>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CEDB128F-CED1-A949-AFA6-7C80CB4146B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78B948C-341F-697C-2422-423B9945F50F}"/>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atin typeface="Helvetica"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33EB55C3-AC80-C983-CA1A-C1E29210AC6D}"/>
              </a:ext>
            </a:extLst>
          </p:cNvPr>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atin typeface="Helvetica" charset="0"/>
                <a:ea typeface="ＭＳ Ｐゴシック" charset="-128"/>
              </a:defRPr>
            </a:lvl1pPr>
          </a:lstStyle>
          <a:p>
            <a:pPr>
              <a:defRPr/>
            </a:pPr>
            <a:fld id="{FEEA3114-E332-D547-B8FF-2243C102B0CF}" type="datetimeFigureOut">
              <a:rPr lang="en-US"/>
              <a:pPr>
                <a:defRPr/>
              </a:pPr>
              <a:t>7/23/26</a:t>
            </a:fld>
            <a:endParaRPr lang="en-US"/>
          </a:p>
        </p:txBody>
      </p:sp>
      <p:sp>
        <p:nvSpPr>
          <p:cNvPr id="4" name="Slide Image Placeholder 3">
            <a:extLst>
              <a:ext uri="{FF2B5EF4-FFF2-40B4-BE49-F238E27FC236}">
                <a16:creationId xmlns:a16="http://schemas.microsoft.com/office/drawing/2014/main" id="{3A13AA52-254D-C15D-61EB-48087C47AFAE}"/>
              </a:ext>
            </a:extLst>
          </p:cNvPr>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631999D7-7CCF-48DA-0CEF-0CDE7CC08715}"/>
              </a:ext>
            </a:extLst>
          </p:cNvPr>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548FA64-04BE-F86F-DACA-7A8D139A8D30}"/>
              </a:ext>
            </a:extLst>
          </p:cNvPr>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atin typeface="Helvetica" charset="0"/>
                <a:ea typeface="ＭＳ Ｐゴシック" charset="-128"/>
              </a:defRPr>
            </a:lvl1pPr>
          </a:lstStyle>
          <a:p>
            <a:pPr>
              <a:defRPr/>
            </a:pPr>
            <a:endParaRPr lang="en-US"/>
          </a:p>
        </p:txBody>
      </p:sp>
      <p:sp>
        <p:nvSpPr>
          <p:cNvPr id="7" name="Slide Number Placeholder 6">
            <a:extLst>
              <a:ext uri="{FF2B5EF4-FFF2-40B4-BE49-F238E27FC236}">
                <a16:creationId xmlns:a16="http://schemas.microsoft.com/office/drawing/2014/main" id="{3578AA75-6ECB-8BCE-F7C9-70F181E52D8D}"/>
              </a:ext>
            </a:extLst>
          </p:cNvPr>
          <p:cNvSpPr>
            <a:spLocks noGrp="1"/>
          </p:cNvSpPr>
          <p:nvPr>
            <p:ph type="sldNum" sz="quarter" idx="5"/>
          </p:nvPr>
        </p:nvSpPr>
        <p:spPr>
          <a:xfrm>
            <a:off x="3970338" y="8829675"/>
            <a:ext cx="3038475" cy="466725"/>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0D72118-C92C-3549-8DBF-D8619DC3BF2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D72118-C92C-3549-8DBF-D8619DC3BF28}" type="slidenum">
              <a:rPr lang="en-US" altLang="en-US" smtClean="0"/>
              <a:pPr/>
              <a:t>1</a:t>
            </a:fld>
            <a:endParaRPr lang="en-US" altLang="en-US"/>
          </a:p>
        </p:txBody>
      </p:sp>
    </p:spTree>
    <p:extLst>
      <p:ext uri="{BB962C8B-B14F-4D97-AF65-F5344CB8AC3E}">
        <p14:creationId xmlns:p14="http://schemas.microsoft.com/office/powerpoint/2010/main" val="3541584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569" y="10226675"/>
            <a:ext cx="37308064" cy="7054850"/>
          </a:xfrm>
        </p:spPr>
        <p:txBody>
          <a:bodyPr/>
          <a:lstStyle/>
          <a:p>
            <a:r>
              <a:rPr lang="en-US"/>
              <a:t>Click to edit Master title style</a:t>
            </a:r>
          </a:p>
        </p:txBody>
      </p:sp>
      <p:sp>
        <p:nvSpPr>
          <p:cNvPr id="3" name="Subtitle 2"/>
          <p:cNvSpPr>
            <a:spLocks noGrp="1"/>
          </p:cNvSpPr>
          <p:nvPr>
            <p:ph type="subTitle" idx="1"/>
          </p:nvPr>
        </p:nvSpPr>
        <p:spPr>
          <a:xfrm>
            <a:off x="6583136" y="18653125"/>
            <a:ext cx="30724929" cy="8413750"/>
          </a:xfrm>
        </p:spPr>
        <p:txBody>
          <a:bodyPr/>
          <a:lstStyle>
            <a:lvl1pPr marL="0" indent="0" algn="ctr">
              <a:buNone/>
              <a:defRPr/>
            </a:lvl1pPr>
            <a:lvl2pPr marL="391866" indent="0" algn="ctr">
              <a:buNone/>
              <a:defRPr/>
            </a:lvl2pPr>
            <a:lvl3pPr marL="783732" indent="0" algn="ctr">
              <a:buNone/>
              <a:defRPr/>
            </a:lvl3pPr>
            <a:lvl4pPr marL="1175598" indent="0" algn="ctr">
              <a:buNone/>
              <a:defRPr/>
            </a:lvl4pPr>
            <a:lvl5pPr marL="1567464" indent="0" algn="ctr">
              <a:buNone/>
              <a:defRPr/>
            </a:lvl5pPr>
            <a:lvl6pPr marL="1959331" indent="0" algn="ctr">
              <a:buNone/>
              <a:defRPr/>
            </a:lvl6pPr>
            <a:lvl7pPr marL="2351197" indent="0" algn="ctr">
              <a:buNone/>
              <a:defRPr/>
            </a:lvl7pPr>
            <a:lvl8pPr marL="2743063" indent="0" algn="ctr">
              <a:buNone/>
              <a:defRPr/>
            </a:lvl8pPr>
            <a:lvl9pPr marL="3134929"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16E982B-39B3-3F8E-1B90-98EFB1BD0BB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36C6FAB-047F-8A2A-B613-B8C2BEFFB22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3618CDE-5EBC-5BDB-BB17-436BC814A9BB}"/>
              </a:ext>
            </a:extLst>
          </p:cNvPr>
          <p:cNvSpPr>
            <a:spLocks noGrp="1" noChangeArrowheads="1"/>
          </p:cNvSpPr>
          <p:nvPr>
            <p:ph type="sldNum" sz="quarter" idx="12"/>
          </p:nvPr>
        </p:nvSpPr>
        <p:spPr>
          <a:ln/>
        </p:spPr>
        <p:txBody>
          <a:bodyPr/>
          <a:lstStyle>
            <a:lvl1pPr>
              <a:defRPr/>
            </a:lvl1pPr>
          </a:lstStyle>
          <a:p>
            <a:fld id="{C5ECA24D-E441-464E-AECE-F6B922785E09}" type="slidenum">
              <a:rPr lang="en-US" altLang="en-US"/>
              <a:pPr/>
              <a:t>‹#›</a:t>
            </a:fld>
            <a:endParaRPr lang="en-US" altLang="en-US"/>
          </a:p>
        </p:txBody>
      </p:sp>
    </p:spTree>
    <p:extLst>
      <p:ext uri="{BB962C8B-B14F-4D97-AF65-F5344CB8AC3E}">
        <p14:creationId xmlns:p14="http://schemas.microsoft.com/office/powerpoint/2010/main" val="4194965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35678DE-1997-8F06-EF51-D671A40C1BB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E54A53E-2C44-1A29-F9C3-83544E83784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06D705F-88C0-D8F1-BBD7-0894E3679A54}"/>
              </a:ext>
            </a:extLst>
          </p:cNvPr>
          <p:cNvSpPr>
            <a:spLocks noGrp="1" noChangeArrowheads="1"/>
          </p:cNvSpPr>
          <p:nvPr>
            <p:ph type="sldNum" sz="quarter" idx="12"/>
          </p:nvPr>
        </p:nvSpPr>
        <p:spPr>
          <a:ln/>
        </p:spPr>
        <p:txBody>
          <a:bodyPr/>
          <a:lstStyle>
            <a:lvl1pPr>
              <a:defRPr/>
            </a:lvl1pPr>
          </a:lstStyle>
          <a:p>
            <a:fld id="{0B7F28B0-06F6-2B48-B3A9-6833D486B4C4}" type="slidenum">
              <a:rPr lang="en-US" altLang="en-US"/>
              <a:pPr/>
              <a:t>‹#›</a:t>
            </a:fld>
            <a:endParaRPr lang="en-US" altLang="en-US"/>
          </a:p>
        </p:txBody>
      </p:sp>
    </p:spTree>
    <p:extLst>
      <p:ext uri="{BB962C8B-B14F-4D97-AF65-F5344CB8AC3E}">
        <p14:creationId xmlns:p14="http://schemas.microsoft.com/office/powerpoint/2010/main" val="1465724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8064" cy="6537325"/>
          </a:xfrm>
        </p:spPr>
        <p:txBody>
          <a:bodyPr anchor="t"/>
          <a:lstStyle>
            <a:lvl1pPr algn="l">
              <a:defRPr sz="3428" b="1" cap="all"/>
            </a:lvl1pPr>
          </a:lstStyle>
          <a:p>
            <a:r>
              <a:rPr lang="en-US"/>
              <a:t>Click to edit Master title style</a:t>
            </a:r>
          </a:p>
        </p:txBody>
      </p:sp>
      <p:sp>
        <p:nvSpPr>
          <p:cNvPr id="3" name="Text Placeholder 2"/>
          <p:cNvSpPr>
            <a:spLocks noGrp="1"/>
          </p:cNvSpPr>
          <p:nvPr>
            <p:ph type="body" idx="1"/>
          </p:nvPr>
        </p:nvSpPr>
        <p:spPr>
          <a:xfrm>
            <a:off x="3467101" y="13952538"/>
            <a:ext cx="37308064" cy="7200900"/>
          </a:xfrm>
        </p:spPr>
        <p:txBody>
          <a:bodyPr anchor="b"/>
          <a:lstStyle>
            <a:lvl1pPr marL="0" indent="0">
              <a:buNone/>
              <a:defRPr sz="1714"/>
            </a:lvl1pPr>
            <a:lvl2pPr marL="391866" indent="0">
              <a:buNone/>
              <a:defRPr sz="1543"/>
            </a:lvl2pPr>
            <a:lvl3pPr marL="783732" indent="0">
              <a:buNone/>
              <a:defRPr sz="1371"/>
            </a:lvl3pPr>
            <a:lvl4pPr marL="1175598" indent="0">
              <a:buNone/>
              <a:defRPr sz="1200"/>
            </a:lvl4pPr>
            <a:lvl5pPr marL="1567464" indent="0">
              <a:buNone/>
              <a:defRPr sz="1200"/>
            </a:lvl5pPr>
            <a:lvl6pPr marL="1959331" indent="0">
              <a:buNone/>
              <a:defRPr sz="1200"/>
            </a:lvl6pPr>
            <a:lvl7pPr marL="2351197" indent="0">
              <a:buNone/>
              <a:defRPr sz="1200"/>
            </a:lvl7pPr>
            <a:lvl8pPr marL="2743063" indent="0">
              <a:buNone/>
              <a:defRPr sz="1200"/>
            </a:lvl8pPr>
            <a:lvl9pPr marL="3134929" indent="0">
              <a:buNone/>
              <a:defRPr sz="1200"/>
            </a:lvl9pPr>
          </a:lstStyle>
          <a:p>
            <a:pPr lvl="0"/>
            <a:r>
              <a:rPr lang="en-US"/>
              <a:t>Click to edit Master text styles</a:t>
            </a:r>
          </a:p>
        </p:txBody>
      </p:sp>
      <p:sp>
        <p:nvSpPr>
          <p:cNvPr id="4" name="Rectangle 4">
            <a:extLst>
              <a:ext uri="{FF2B5EF4-FFF2-40B4-BE49-F238E27FC236}">
                <a16:creationId xmlns:a16="http://schemas.microsoft.com/office/drawing/2014/main" id="{DC7EFA62-E55F-BFD2-79D8-4F98C52FAF6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BD47AEC4-8375-288C-7095-068E3FED59C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42D742E-A628-CB06-D679-9FD18A5936A4}"/>
              </a:ext>
            </a:extLst>
          </p:cNvPr>
          <p:cNvSpPr>
            <a:spLocks noGrp="1" noChangeArrowheads="1"/>
          </p:cNvSpPr>
          <p:nvPr>
            <p:ph type="sldNum" sz="quarter" idx="12"/>
          </p:nvPr>
        </p:nvSpPr>
        <p:spPr>
          <a:ln/>
        </p:spPr>
        <p:txBody>
          <a:bodyPr/>
          <a:lstStyle>
            <a:lvl1pPr>
              <a:defRPr/>
            </a:lvl1pPr>
          </a:lstStyle>
          <a:p>
            <a:fld id="{934CEB51-C459-EF4F-8E30-74840BFF22B1}" type="slidenum">
              <a:rPr lang="en-US" altLang="en-US"/>
              <a:pPr/>
              <a:t>‹#›</a:t>
            </a:fld>
            <a:endParaRPr lang="en-US" altLang="en-US"/>
          </a:p>
        </p:txBody>
      </p:sp>
    </p:spTree>
    <p:extLst>
      <p:ext uri="{BB962C8B-B14F-4D97-AF65-F5344CB8AC3E}">
        <p14:creationId xmlns:p14="http://schemas.microsoft.com/office/powerpoint/2010/main" val="158293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91569" y="9510714"/>
            <a:ext cx="18588717" cy="1975008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0914" y="9510714"/>
            <a:ext cx="18588718" cy="19750087"/>
          </a:xfrm>
        </p:spPr>
        <p:txBody>
          <a:bodyPr/>
          <a:lstStyle>
            <a:lvl1pPr>
              <a:defRPr sz="2400"/>
            </a:lvl1pPr>
            <a:lvl2pPr>
              <a:defRPr sz="2057"/>
            </a:lvl2pPr>
            <a:lvl3pPr>
              <a:defRPr sz="1714"/>
            </a:lvl3pPr>
            <a:lvl4pPr>
              <a:defRPr sz="1543"/>
            </a:lvl4pPr>
            <a:lvl5pPr>
              <a:defRPr sz="1543"/>
            </a:lvl5pPr>
            <a:lvl6pPr>
              <a:defRPr sz="1543"/>
            </a:lvl6pPr>
            <a:lvl7pPr>
              <a:defRPr sz="1543"/>
            </a:lvl7pPr>
            <a:lvl8pPr>
              <a:defRPr sz="1543"/>
            </a:lvl8pPr>
            <a:lvl9pPr>
              <a:defRPr sz="15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3D62026-9CF5-C022-6D19-524BC8283F2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DED8D65C-7A90-300E-4DCD-056C688F39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3D9E51C4-5AB0-D4F5-C8C9-ABF520747020}"/>
              </a:ext>
            </a:extLst>
          </p:cNvPr>
          <p:cNvSpPr>
            <a:spLocks noGrp="1" noChangeArrowheads="1"/>
          </p:cNvSpPr>
          <p:nvPr>
            <p:ph type="sldNum" sz="quarter" idx="12"/>
          </p:nvPr>
        </p:nvSpPr>
        <p:spPr>
          <a:ln/>
        </p:spPr>
        <p:txBody>
          <a:bodyPr/>
          <a:lstStyle>
            <a:lvl1pPr>
              <a:defRPr/>
            </a:lvl1pPr>
          </a:lstStyle>
          <a:p>
            <a:fld id="{6FC392C1-FE94-E24B-8B72-E06DE7A43FE0}" type="slidenum">
              <a:rPr lang="en-US" altLang="en-US"/>
              <a:pPr/>
              <a:t>‹#›</a:t>
            </a:fld>
            <a:endParaRPr lang="en-US" altLang="en-US"/>
          </a:p>
        </p:txBody>
      </p:sp>
    </p:spTree>
    <p:extLst>
      <p:ext uri="{BB962C8B-B14F-4D97-AF65-F5344CB8AC3E}">
        <p14:creationId xmlns:p14="http://schemas.microsoft.com/office/powerpoint/2010/main" val="1672441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833" y="1317625"/>
            <a:ext cx="39501536"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833" y="7369176"/>
            <a:ext cx="19392900" cy="3070225"/>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t>Click to edit Master text styles</a:t>
            </a:r>
          </a:p>
        </p:txBody>
      </p:sp>
      <p:sp>
        <p:nvSpPr>
          <p:cNvPr id="4" name="Content Placeholder 3"/>
          <p:cNvSpPr>
            <a:spLocks noGrp="1"/>
          </p:cNvSpPr>
          <p:nvPr>
            <p:ph sz="half" idx="2"/>
          </p:nvPr>
        </p:nvSpPr>
        <p:spPr>
          <a:xfrm>
            <a:off x="2194833" y="10439401"/>
            <a:ext cx="19392900" cy="18965863"/>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664" y="7369176"/>
            <a:ext cx="19399704" cy="3070225"/>
          </a:xfrm>
        </p:spPr>
        <p:txBody>
          <a:bodyPr anchor="b"/>
          <a:lstStyle>
            <a:lvl1pPr marL="0" indent="0">
              <a:buNone/>
              <a:defRPr sz="2057" b="1"/>
            </a:lvl1pPr>
            <a:lvl2pPr marL="391866" indent="0">
              <a:buNone/>
              <a:defRPr sz="1714" b="1"/>
            </a:lvl2pPr>
            <a:lvl3pPr marL="783732" indent="0">
              <a:buNone/>
              <a:defRPr sz="1543" b="1"/>
            </a:lvl3pPr>
            <a:lvl4pPr marL="1175598" indent="0">
              <a:buNone/>
              <a:defRPr sz="1371" b="1"/>
            </a:lvl4pPr>
            <a:lvl5pPr marL="1567464" indent="0">
              <a:buNone/>
              <a:defRPr sz="1371" b="1"/>
            </a:lvl5pPr>
            <a:lvl6pPr marL="1959331" indent="0">
              <a:buNone/>
              <a:defRPr sz="1371" b="1"/>
            </a:lvl6pPr>
            <a:lvl7pPr marL="2351197" indent="0">
              <a:buNone/>
              <a:defRPr sz="1371" b="1"/>
            </a:lvl7pPr>
            <a:lvl8pPr marL="2743063" indent="0">
              <a:buNone/>
              <a:defRPr sz="1371" b="1"/>
            </a:lvl8pPr>
            <a:lvl9pPr marL="3134929" indent="0">
              <a:buNone/>
              <a:defRPr sz="1371" b="1"/>
            </a:lvl9pPr>
          </a:lstStyle>
          <a:p>
            <a:pPr lvl="0"/>
            <a:r>
              <a:rPr lang="en-US"/>
              <a:t>Click to edit Master text styles</a:t>
            </a:r>
          </a:p>
        </p:txBody>
      </p:sp>
      <p:sp>
        <p:nvSpPr>
          <p:cNvPr id="6" name="Content Placeholder 5"/>
          <p:cNvSpPr>
            <a:spLocks noGrp="1"/>
          </p:cNvSpPr>
          <p:nvPr>
            <p:ph sz="quarter" idx="4"/>
          </p:nvPr>
        </p:nvSpPr>
        <p:spPr>
          <a:xfrm>
            <a:off x="22296664" y="10439401"/>
            <a:ext cx="19399704" cy="18965863"/>
          </a:xfrm>
        </p:spPr>
        <p:txBody>
          <a:bodyPr/>
          <a:lstStyle>
            <a:lvl1pPr>
              <a:defRPr sz="2057"/>
            </a:lvl1pPr>
            <a:lvl2pPr>
              <a:defRPr sz="1714"/>
            </a:lvl2pPr>
            <a:lvl3pPr>
              <a:defRPr sz="1543"/>
            </a:lvl3pPr>
            <a:lvl4pPr>
              <a:defRPr sz="1371"/>
            </a:lvl4pPr>
            <a:lvl5pPr>
              <a:defRPr sz="1371"/>
            </a:lvl5pPr>
            <a:lvl6pPr>
              <a:defRPr sz="1371"/>
            </a:lvl6pPr>
            <a:lvl7pPr>
              <a:defRPr sz="1371"/>
            </a:lvl7pPr>
            <a:lvl8pPr>
              <a:defRPr sz="1371"/>
            </a:lvl8pPr>
            <a:lvl9pPr>
              <a:defRPr sz="137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AE5EB9C-C5B3-A003-9D13-5BD191FBD3B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40E2144D-836D-1ED2-E5F5-46D6788246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3045B6F1-7B4A-A0BB-A102-B2B748511888}"/>
              </a:ext>
            </a:extLst>
          </p:cNvPr>
          <p:cNvSpPr>
            <a:spLocks noGrp="1" noChangeArrowheads="1"/>
          </p:cNvSpPr>
          <p:nvPr>
            <p:ph type="sldNum" sz="quarter" idx="12"/>
          </p:nvPr>
        </p:nvSpPr>
        <p:spPr>
          <a:ln/>
        </p:spPr>
        <p:txBody>
          <a:bodyPr/>
          <a:lstStyle>
            <a:lvl1pPr>
              <a:defRPr/>
            </a:lvl1pPr>
          </a:lstStyle>
          <a:p>
            <a:fld id="{0238B6B9-A84C-A14F-8B50-187E373FAF10}" type="slidenum">
              <a:rPr lang="en-US" altLang="en-US"/>
              <a:pPr/>
              <a:t>‹#›</a:t>
            </a:fld>
            <a:endParaRPr lang="en-US" altLang="en-US"/>
          </a:p>
        </p:txBody>
      </p:sp>
    </p:spTree>
    <p:extLst>
      <p:ext uri="{BB962C8B-B14F-4D97-AF65-F5344CB8AC3E}">
        <p14:creationId xmlns:p14="http://schemas.microsoft.com/office/powerpoint/2010/main" val="3803345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9B322BA-5D36-A17C-50CF-650A9621692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84437134-19DB-06F6-E5F7-8D2E05B23A5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9D0DB560-FF65-2512-C1FA-FD27E50E5EC8}"/>
              </a:ext>
            </a:extLst>
          </p:cNvPr>
          <p:cNvSpPr>
            <a:spLocks noGrp="1" noChangeArrowheads="1"/>
          </p:cNvSpPr>
          <p:nvPr>
            <p:ph type="sldNum" sz="quarter" idx="12"/>
          </p:nvPr>
        </p:nvSpPr>
        <p:spPr>
          <a:ln/>
        </p:spPr>
        <p:txBody>
          <a:bodyPr/>
          <a:lstStyle>
            <a:lvl1pPr>
              <a:defRPr/>
            </a:lvl1pPr>
          </a:lstStyle>
          <a:p>
            <a:fld id="{741E71AB-84A4-E14C-8ABF-2CB44819347A}" type="slidenum">
              <a:rPr lang="en-US" altLang="en-US"/>
              <a:pPr/>
              <a:t>‹#›</a:t>
            </a:fld>
            <a:endParaRPr lang="en-US" altLang="en-US"/>
          </a:p>
        </p:txBody>
      </p:sp>
    </p:spTree>
    <p:extLst>
      <p:ext uri="{BB962C8B-B14F-4D97-AF65-F5344CB8AC3E}">
        <p14:creationId xmlns:p14="http://schemas.microsoft.com/office/powerpoint/2010/main" val="2005132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BC5B2E4-6EBC-BC09-07F1-479F3B9777B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18F80D32-729C-D191-D12E-F09AFD15186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7F067347-8DA2-38A5-EA78-648441996F12}"/>
              </a:ext>
            </a:extLst>
          </p:cNvPr>
          <p:cNvSpPr>
            <a:spLocks noGrp="1" noChangeArrowheads="1"/>
          </p:cNvSpPr>
          <p:nvPr>
            <p:ph type="sldNum" sz="quarter" idx="12"/>
          </p:nvPr>
        </p:nvSpPr>
        <p:spPr>
          <a:ln/>
        </p:spPr>
        <p:txBody>
          <a:bodyPr/>
          <a:lstStyle>
            <a:lvl1pPr>
              <a:defRPr/>
            </a:lvl1pPr>
          </a:lstStyle>
          <a:p>
            <a:fld id="{0127A14F-9219-2645-AC44-3D2F829DE67C}" type="slidenum">
              <a:rPr lang="en-US" altLang="en-US"/>
              <a:pPr/>
              <a:t>‹#›</a:t>
            </a:fld>
            <a:endParaRPr lang="en-US" altLang="en-US"/>
          </a:p>
        </p:txBody>
      </p:sp>
    </p:spTree>
    <p:extLst>
      <p:ext uri="{BB962C8B-B14F-4D97-AF65-F5344CB8AC3E}">
        <p14:creationId xmlns:p14="http://schemas.microsoft.com/office/powerpoint/2010/main" val="3633753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833" y="1311275"/>
            <a:ext cx="14439900" cy="5576888"/>
          </a:xfrm>
        </p:spPr>
        <p:txBody>
          <a:bodyPr anchor="b"/>
          <a:lstStyle>
            <a:lvl1pPr algn="l">
              <a:defRPr sz="1714" b="1"/>
            </a:lvl1pPr>
          </a:lstStyle>
          <a:p>
            <a:r>
              <a:rPr lang="en-US"/>
              <a:t>Click to edit Master title style</a:t>
            </a:r>
          </a:p>
        </p:txBody>
      </p:sp>
      <p:sp>
        <p:nvSpPr>
          <p:cNvPr id="3" name="Content Placeholder 2"/>
          <p:cNvSpPr>
            <a:spLocks noGrp="1"/>
          </p:cNvSpPr>
          <p:nvPr>
            <p:ph idx="1"/>
          </p:nvPr>
        </p:nvSpPr>
        <p:spPr>
          <a:xfrm>
            <a:off x="17159968" y="1311275"/>
            <a:ext cx="24536400" cy="28093988"/>
          </a:xfrm>
        </p:spPr>
        <p:txBody>
          <a:bodyPr/>
          <a:lstStyle>
            <a:lvl1pPr>
              <a:defRPr sz="2743"/>
            </a:lvl1pPr>
            <a:lvl2pPr>
              <a:defRPr sz="2400"/>
            </a:lvl2pPr>
            <a:lvl3pPr>
              <a:defRPr sz="2057"/>
            </a:lvl3pPr>
            <a:lvl4pPr>
              <a:defRPr sz="1714"/>
            </a:lvl4pPr>
            <a:lvl5pPr>
              <a:defRPr sz="1714"/>
            </a:lvl5pPr>
            <a:lvl6pPr>
              <a:defRPr sz="1714"/>
            </a:lvl6pPr>
            <a:lvl7pPr>
              <a:defRPr sz="1714"/>
            </a:lvl7pPr>
            <a:lvl8pPr>
              <a:defRPr sz="1714"/>
            </a:lvl8pPr>
            <a:lvl9pPr>
              <a:defRPr sz="17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833" y="6888163"/>
            <a:ext cx="14439900" cy="22517100"/>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t>Click to edit Master text styles</a:t>
            </a:r>
          </a:p>
        </p:txBody>
      </p:sp>
      <p:sp>
        <p:nvSpPr>
          <p:cNvPr id="5" name="Rectangle 4">
            <a:extLst>
              <a:ext uri="{FF2B5EF4-FFF2-40B4-BE49-F238E27FC236}">
                <a16:creationId xmlns:a16="http://schemas.microsoft.com/office/drawing/2014/main" id="{1B5383C7-3972-841C-70AE-0A67E205F4F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9F293C84-F357-49BC-2C88-B2BE13696DD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20AE397D-8DB1-DE24-34EE-5C0A79000F32}"/>
              </a:ext>
            </a:extLst>
          </p:cNvPr>
          <p:cNvSpPr>
            <a:spLocks noGrp="1" noChangeArrowheads="1"/>
          </p:cNvSpPr>
          <p:nvPr>
            <p:ph type="sldNum" sz="quarter" idx="12"/>
          </p:nvPr>
        </p:nvSpPr>
        <p:spPr>
          <a:ln/>
        </p:spPr>
        <p:txBody>
          <a:bodyPr/>
          <a:lstStyle>
            <a:lvl1pPr>
              <a:defRPr/>
            </a:lvl1pPr>
          </a:lstStyle>
          <a:p>
            <a:fld id="{C7897C99-3458-C149-9F11-886DE731EDBA}" type="slidenum">
              <a:rPr lang="en-US" altLang="en-US"/>
              <a:pPr/>
              <a:t>‹#›</a:t>
            </a:fld>
            <a:endParaRPr lang="en-US" altLang="en-US"/>
          </a:p>
        </p:txBody>
      </p:sp>
    </p:spTree>
    <p:extLst>
      <p:ext uri="{BB962C8B-B14F-4D97-AF65-F5344CB8AC3E}">
        <p14:creationId xmlns:p14="http://schemas.microsoft.com/office/powerpoint/2010/main" val="3017422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436" y="23042564"/>
            <a:ext cx="26335264" cy="2720975"/>
          </a:xfrm>
        </p:spPr>
        <p:txBody>
          <a:bodyPr anchor="b"/>
          <a:lstStyle>
            <a:lvl1pPr algn="l">
              <a:defRPr sz="1714" b="1"/>
            </a:lvl1pPr>
          </a:lstStyle>
          <a:p>
            <a:r>
              <a:rPr lang="en-US"/>
              <a:t>Click to edit Master title style</a:t>
            </a:r>
          </a:p>
        </p:txBody>
      </p:sp>
      <p:sp>
        <p:nvSpPr>
          <p:cNvPr id="3" name="Picture Placeholder 2"/>
          <p:cNvSpPr>
            <a:spLocks noGrp="1"/>
          </p:cNvSpPr>
          <p:nvPr>
            <p:ph type="pic" idx="1"/>
          </p:nvPr>
        </p:nvSpPr>
        <p:spPr>
          <a:xfrm>
            <a:off x="8602436" y="2941639"/>
            <a:ext cx="26335264" cy="19750087"/>
          </a:xfrm>
        </p:spPr>
        <p:txBody>
          <a:bodyPr/>
          <a:lstStyle>
            <a:lvl1pPr marL="0" indent="0">
              <a:buNone/>
              <a:defRPr sz="2743"/>
            </a:lvl1pPr>
            <a:lvl2pPr marL="391866" indent="0">
              <a:buNone/>
              <a:defRPr sz="2400"/>
            </a:lvl2pPr>
            <a:lvl3pPr marL="783732" indent="0">
              <a:buNone/>
              <a:defRPr sz="2057"/>
            </a:lvl3pPr>
            <a:lvl4pPr marL="1175598" indent="0">
              <a:buNone/>
              <a:defRPr sz="1714"/>
            </a:lvl4pPr>
            <a:lvl5pPr marL="1567464" indent="0">
              <a:buNone/>
              <a:defRPr sz="1714"/>
            </a:lvl5pPr>
            <a:lvl6pPr marL="1959331" indent="0">
              <a:buNone/>
              <a:defRPr sz="1714"/>
            </a:lvl6pPr>
            <a:lvl7pPr marL="2351197" indent="0">
              <a:buNone/>
              <a:defRPr sz="1714"/>
            </a:lvl7pPr>
            <a:lvl8pPr marL="2743063" indent="0">
              <a:buNone/>
              <a:defRPr sz="1714"/>
            </a:lvl8pPr>
            <a:lvl9pPr marL="3134929" indent="0">
              <a:buNone/>
              <a:defRPr sz="1714"/>
            </a:lvl9pPr>
          </a:lstStyle>
          <a:p>
            <a:pPr lvl="0"/>
            <a:endParaRPr lang="en-US" noProof="0"/>
          </a:p>
        </p:txBody>
      </p:sp>
      <p:sp>
        <p:nvSpPr>
          <p:cNvPr id="4" name="Text Placeholder 3"/>
          <p:cNvSpPr>
            <a:spLocks noGrp="1"/>
          </p:cNvSpPr>
          <p:nvPr>
            <p:ph type="body" sz="half" idx="2"/>
          </p:nvPr>
        </p:nvSpPr>
        <p:spPr>
          <a:xfrm>
            <a:off x="8602436" y="25763539"/>
            <a:ext cx="26335264" cy="3862387"/>
          </a:xfrm>
        </p:spPr>
        <p:txBody>
          <a:bodyPr/>
          <a:lstStyle>
            <a:lvl1pPr marL="0" indent="0">
              <a:buNone/>
              <a:defRPr sz="1200"/>
            </a:lvl1pPr>
            <a:lvl2pPr marL="391866" indent="0">
              <a:buNone/>
              <a:defRPr sz="1029"/>
            </a:lvl2pPr>
            <a:lvl3pPr marL="783732" indent="0">
              <a:buNone/>
              <a:defRPr sz="857"/>
            </a:lvl3pPr>
            <a:lvl4pPr marL="1175598" indent="0">
              <a:buNone/>
              <a:defRPr sz="771"/>
            </a:lvl4pPr>
            <a:lvl5pPr marL="1567464" indent="0">
              <a:buNone/>
              <a:defRPr sz="771"/>
            </a:lvl5pPr>
            <a:lvl6pPr marL="1959331" indent="0">
              <a:buNone/>
              <a:defRPr sz="771"/>
            </a:lvl6pPr>
            <a:lvl7pPr marL="2351197" indent="0">
              <a:buNone/>
              <a:defRPr sz="771"/>
            </a:lvl7pPr>
            <a:lvl8pPr marL="2743063" indent="0">
              <a:buNone/>
              <a:defRPr sz="771"/>
            </a:lvl8pPr>
            <a:lvl9pPr marL="3134929" indent="0">
              <a:buNone/>
              <a:defRPr sz="771"/>
            </a:lvl9pPr>
          </a:lstStyle>
          <a:p>
            <a:pPr lvl="0"/>
            <a:r>
              <a:rPr lang="en-US"/>
              <a:t>Click to edit Master text styles</a:t>
            </a:r>
          </a:p>
        </p:txBody>
      </p:sp>
      <p:sp>
        <p:nvSpPr>
          <p:cNvPr id="5" name="Rectangle 4">
            <a:extLst>
              <a:ext uri="{FF2B5EF4-FFF2-40B4-BE49-F238E27FC236}">
                <a16:creationId xmlns:a16="http://schemas.microsoft.com/office/drawing/2014/main" id="{3C3DD31E-E525-01A5-99E0-ACD266A54BD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4BAA14F3-9462-3195-6771-4E7CF8A462E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DD487A0F-5E89-F12E-E7C8-06F1FB0EAC0C}"/>
              </a:ext>
            </a:extLst>
          </p:cNvPr>
          <p:cNvSpPr>
            <a:spLocks noGrp="1" noChangeArrowheads="1"/>
          </p:cNvSpPr>
          <p:nvPr>
            <p:ph type="sldNum" sz="quarter" idx="12"/>
          </p:nvPr>
        </p:nvSpPr>
        <p:spPr>
          <a:ln/>
        </p:spPr>
        <p:txBody>
          <a:bodyPr/>
          <a:lstStyle>
            <a:lvl1pPr>
              <a:defRPr/>
            </a:lvl1pPr>
          </a:lstStyle>
          <a:p>
            <a:fld id="{A5317D53-2FE6-244A-B2F5-3CDA9CE57F63}" type="slidenum">
              <a:rPr lang="en-US" altLang="en-US"/>
              <a:pPr/>
              <a:t>‹#›</a:t>
            </a:fld>
            <a:endParaRPr lang="en-US" altLang="en-US"/>
          </a:p>
        </p:txBody>
      </p:sp>
    </p:spTree>
    <p:extLst>
      <p:ext uri="{BB962C8B-B14F-4D97-AF65-F5344CB8AC3E}">
        <p14:creationId xmlns:p14="http://schemas.microsoft.com/office/powerpoint/2010/main" val="1767930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1C0F5B8-7B19-6B89-C0A0-B6630DD8746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28E813A-E753-4C75-2753-E509EC58A5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AA716E87-A328-05DE-490B-A4075902A054}"/>
              </a:ext>
            </a:extLst>
          </p:cNvPr>
          <p:cNvSpPr>
            <a:spLocks noGrp="1" noChangeArrowheads="1"/>
          </p:cNvSpPr>
          <p:nvPr>
            <p:ph type="sldNum" sz="quarter" idx="12"/>
          </p:nvPr>
        </p:nvSpPr>
        <p:spPr>
          <a:ln/>
        </p:spPr>
        <p:txBody>
          <a:bodyPr/>
          <a:lstStyle>
            <a:lvl1pPr>
              <a:defRPr/>
            </a:lvl1pPr>
          </a:lstStyle>
          <a:p>
            <a:fld id="{345894E3-7F6F-184A-A8E2-7EA577743FB5}" type="slidenum">
              <a:rPr lang="en-US" altLang="en-US"/>
              <a:pPr/>
              <a:t>‹#›</a:t>
            </a:fld>
            <a:endParaRPr lang="en-US" altLang="en-US"/>
          </a:p>
        </p:txBody>
      </p:sp>
    </p:spTree>
    <p:extLst>
      <p:ext uri="{BB962C8B-B14F-4D97-AF65-F5344CB8AC3E}">
        <p14:creationId xmlns:p14="http://schemas.microsoft.com/office/powerpoint/2010/main" val="35816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3297" y="2925764"/>
            <a:ext cx="9326336" cy="263350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91568" y="2925764"/>
            <a:ext cx="27851100" cy="263350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28F760F-1688-54D9-A66D-C6D060CE42C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8C8E830-2B72-EDEB-C1E6-A881E2D7FD7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56A10D45-26DC-0565-1383-C26D31CECE13}"/>
              </a:ext>
            </a:extLst>
          </p:cNvPr>
          <p:cNvSpPr>
            <a:spLocks noGrp="1" noChangeArrowheads="1"/>
          </p:cNvSpPr>
          <p:nvPr>
            <p:ph type="sldNum" sz="quarter" idx="12"/>
          </p:nvPr>
        </p:nvSpPr>
        <p:spPr>
          <a:ln/>
        </p:spPr>
        <p:txBody>
          <a:bodyPr/>
          <a:lstStyle>
            <a:lvl1pPr>
              <a:defRPr/>
            </a:lvl1pPr>
          </a:lstStyle>
          <a:p>
            <a:fld id="{B136AEA5-B00D-3142-A061-A61C52581C99}" type="slidenum">
              <a:rPr lang="en-US" altLang="en-US"/>
              <a:pPr/>
              <a:t>‹#›</a:t>
            </a:fld>
            <a:endParaRPr lang="en-US" altLang="en-US"/>
          </a:p>
        </p:txBody>
      </p:sp>
    </p:spTree>
    <p:extLst>
      <p:ext uri="{BB962C8B-B14F-4D97-AF65-F5344CB8AC3E}">
        <p14:creationId xmlns:p14="http://schemas.microsoft.com/office/powerpoint/2010/main" val="3668103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91228B99-9E6D-EF1F-D926-3ABD2C2813A2}"/>
              </a:ext>
            </a:extLst>
          </p:cNvPr>
          <p:cNvSpPr>
            <a:spLocks noGrp="1" noChangeArrowheads="1"/>
          </p:cNvSpPr>
          <p:nvPr>
            <p:ph type="title"/>
          </p:nvPr>
        </p:nvSpPr>
        <p:spPr bwMode="auto">
          <a:xfrm>
            <a:off x="3291569" y="2925763"/>
            <a:ext cx="37308064"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5F7B027-9D19-CF0C-E6F5-CC413557E91E}"/>
              </a:ext>
            </a:extLst>
          </p:cNvPr>
          <p:cNvSpPr>
            <a:spLocks noGrp="1" noChangeArrowheads="1"/>
          </p:cNvSpPr>
          <p:nvPr>
            <p:ph type="body" idx="1"/>
          </p:nvPr>
        </p:nvSpPr>
        <p:spPr bwMode="auto">
          <a:xfrm>
            <a:off x="3291569" y="9510714"/>
            <a:ext cx="37308064" cy="1975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57" tIns="203779" rIns="407557" bIns="20377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CE357266-82EA-A7D7-C07C-93D340BF7BC8}"/>
              </a:ext>
            </a:extLst>
          </p:cNvPr>
          <p:cNvSpPr>
            <a:spLocks noGrp="1" noChangeArrowheads="1"/>
          </p:cNvSpPr>
          <p:nvPr>
            <p:ph type="dt" sz="half" idx="2"/>
          </p:nvPr>
        </p:nvSpPr>
        <p:spPr bwMode="auto">
          <a:xfrm>
            <a:off x="3291568" y="29992639"/>
            <a:ext cx="9144000" cy="2193925"/>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eaLnBrk="1" hangingPunct="1">
              <a:defRPr sz="5314">
                <a:latin typeface="Times New Roman" panose="02020603050405020304" pitchFamily="18" charset="0"/>
                <a:ea typeface="ＭＳ Ｐゴシック" panose="020B0600070205080204" pitchFamily="34" charset="-128"/>
              </a:defRPr>
            </a:lvl1pPr>
          </a:lstStyle>
          <a:p>
            <a:pPr>
              <a:defRPr/>
            </a:pPr>
            <a:endParaRPr lang="en-US" altLang="en-US"/>
          </a:p>
        </p:txBody>
      </p:sp>
      <p:sp>
        <p:nvSpPr>
          <p:cNvPr id="1029" name="Rectangle 5">
            <a:extLst>
              <a:ext uri="{FF2B5EF4-FFF2-40B4-BE49-F238E27FC236}">
                <a16:creationId xmlns:a16="http://schemas.microsoft.com/office/drawing/2014/main" id="{EBE5B095-0B3A-111B-6B12-F8F88234222C}"/>
              </a:ext>
            </a:extLst>
          </p:cNvPr>
          <p:cNvSpPr>
            <a:spLocks noGrp="1" noChangeArrowheads="1"/>
          </p:cNvSpPr>
          <p:nvPr>
            <p:ph type="ftr" sz="quarter" idx="3"/>
          </p:nvPr>
        </p:nvSpPr>
        <p:spPr bwMode="auto">
          <a:xfrm>
            <a:off x="14996433" y="29992639"/>
            <a:ext cx="13898336" cy="2193925"/>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ctr" eaLnBrk="1" hangingPunct="1">
              <a:defRPr sz="5314">
                <a:latin typeface="Times New Roman" panose="02020603050405020304" pitchFamily="18" charset="0"/>
                <a:ea typeface="ＭＳ Ｐゴシック" panose="020B0600070205080204" pitchFamily="34" charset="-128"/>
              </a:defRPr>
            </a:lvl1pPr>
          </a:lstStyle>
          <a:p>
            <a:pPr>
              <a:defRPr/>
            </a:pPr>
            <a:endParaRPr lang="en-US" altLang="en-US"/>
          </a:p>
        </p:txBody>
      </p:sp>
      <p:sp>
        <p:nvSpPr>
          <p:cNvPr id="1030" name="Rectangle 6">
            <a:extLst>
              <a:ext uri="{FF2B5EF4-FFF2-40B4-BE49-F238E27FC236}">
                <a16:creationId xmlns:a16="http://schemas.microsoft.com/office/drawing/2014/main" id="{61B5AB6E-AC58-69A6-1F34-4751EBF5D740}"/>
              </a:ext>
            </a:extLst>
          </p:cNvPr>
          <p:cNvSpPr>
            <a:spLocks noGrp="1" noChangeArrowheads="1"/>
          </p:cNvSpPr>
          <p:nvPr>
            <p:ph type="sldNum" sz="quarter" idx="4"/>
          </p:nvPr>
        </p:nvSpPr>
        <p:spPr bwMode="auto">
          <a:xfrm>
            <a:off x="31455633" y="29992639"/>
            <a:ext cx="9144000" cy="2193925"/>
          </a:xfrm>
          <a:prstGeom prst="rect">
            <a:avLst/>
          </a:prstGeom>
          <a:noFill/>
          <a:ln w="9525">
            <a:noFill/>
            <a:miter lim="800000"/>
            <a:headEnd/>
            <a:tailEnd/>
          </a:ln>
          <a:effectLst/>
        </p:spPr>
        <p:txBody>
          <a:bodyPr vert="horz" wrap="square" lIns="407557" tIns="203779" rIns="407557" bIns="203779" numCol="1" anchor="t" anchorCtr="0" compatLnSpc="1">
            <a:prstTxWarp prst="textNoShape">
              <a:avLst/>
            </a:prstTxWarp>
          </a:bodyPr>
          <a:lstStyle>
            <a:lvl1pPr algn="r" eaLnBrk="1" hangingPunct="1">
              <a:defRPr sz="5314">
                <a:latin typeface="Times New Roman" panose="02020603050405020304" pitchFamily="18" charset="0"/>
              </a:defRPr>
            </a:lvl1pPr>
          </a:lstStyle>
          <a:p>
            <a:fld id="{E6A4F46D-473B-F24E-823A-EB984154924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92779" rtl="0" eaLnBrk="0" fontAlgn="base" hangingPunct="0">
        <a:spcBef>
          <a:spcPct val="0"/>
        </a:spcBef>
        <a:spcAft>
          <a:spcPct val="0"/>
        </a:spcAft>
        <a:defRPr sz="16799">
          <a:solidFill>
            <a:schemeClr val="tx2"/>
          </a:solidFill>
          <a:latin typeface="+mj-lt"/>
          <a:ea typeface="ＭＳ Ｐゴシック" panose="020B0600070205080204" pitchFamily="34" charset="-128"/>
          <a:cs typeface="+mj-cs"/>
        </a:defRPr>
      </a:lvl1pPr>
      <a:lvl2pPr algn="ctr" defTabSz="3492779" rtl="0" eaLnBrk="0" fontAlgn="base" hangingPunct="0">
        <a:spcBef>
          <a:spcPct val="0"/>
        </a:spcBef>
        <a:spcAft>
          <a:spcPct val="0"/>
        </a:spcAft>
        <a:defRPr sz="16799">
          <a:solidFill>
            <a:schemeClr val="tx2"/>
          </a:solidFill>
          <a:latin typeface="Times New Roman" pitchFamily="-106" charset="0"/>
          <a:ea typeface="ＭＳ Ｐゴシック" panose="020B0600070205080204" pitchFamily="34" charset="-128"/>
        </a:defRPr>
      </a:lvl2pPr>
      <a:lvl3pPr algn="ctr" defTabSz="3492779" rtl="0" eaLnBrk="0" fontAlgn="base" hangingPunct="0">
        <a:spcBef>
          <a:spcPct val="0"/>
        </a:spcBef>
        <a:spcAft>
          <a:spcPct val="0"/>
        </a:spcAft>
        <a:defRPr sz="16799">
          <a:solidFill>
            <a:schemeClr val="tx2"/>
          </a:solidFill>
          <a:latin typeface="Times New Roman" pitchFamily="-106" charset="0"/>
          <a:ea typeface="ＭＳ Ｐゴシック" panose="020B0600070205080204" pitchFamily="34" charset="-128"/>
        </a:defRPr>
      </a:lvl3pPr>
      <a:lvl4pPr algn="ctr" defTabSz="3492779" rtl="0" eaLnBrk="0" fontAlgn="base" hangingPunct="0">
        <a:spcBef>
          <a:spcPct val="0"/>
        </a:spcBef>
        <a:spcAft>
          <a:spcPct val="0"/>
        </a:spcAft>
        <a:defRPr sz="16799">
          <a:solidFill>
            <a:schemeClr val="tx2"/>
          </a:solidFill>
          <a:latin typeface="Times New Roman" pitchFamily="-106" charset="0"/>
          <a:ea typeface="ＭＳ Ｐゴシック" panose="020B0600070205080204" pitchFamily="34" charset="-128"/>
        </a:defRPr>
      </a:lvl4pPr>
      <a:lvl5pPr algn="ctr" defTabSz="3492779" rtl="0" eaLnBrk="0" fontAlgn="base" hangingPunct="0">
        <a:spcBef>
          <a:spcPct val="0"/>
        </a:spcBef>
        <a:spcAft>
          <a:spcPct val="0"/>
        </a:spcAft>
        <a:defRPr sz="16799">
          <a:solidFill>
            <a:schemeClr val="tx2"/>
          </a:solidFill>
          <a:latin typeface="Times New Roman" pitchFamily="-106" charset="0"/>
          <a:ea typeface="ＭＳ Ｐゴシック" panose="020B0600070205080204" pitchFamily="34" charset="-128"/>
        </a:defRPr>
      </a:lvl5pPr>
      <a:lvl6pPr marL="391866" algn="ctr" defTabSz="3492779" rtl="0" fontAlgn="base">
        <a:spcBef>
          <a:spcPct val="0"/>
        </a:spcBef>
        <a:spcAft>
          <a:spcPct val="0"/>
        </a:spcAft>
        <a:defRPr sz="16799">
          <a:solidFill>
            <a:schemeClr val="tx2"/>
          </a:solidFill>
          <a:latin typeface="Times New Roman" pitchFamily="-106" charset="0"/>
        </a:defRPr>
      </a:lvl6pPr>
      <a:lvl7pPr marL="783732" algn="ctr" defTabSz="3492779" rtl="0" fontAlgn="base">
        <a:spcBef>
          <a:spcPct val="0"/>
        </a:spcBef>
        <a:spcAft>
          <a:spcPct val="0"/>
        </a:spcAft>
        <a:defRPr sz="16799">
          <a:solidFill>
            <a:schemeClr val="tx2"/>
          </a:solidFill>
          <a:latin typeface="Times New Roman" pitchFamily="-106" charset="0"/>
        </a:defRPr>
      </a:lvl7pPr>
      <a:lvl8pPr marL="1175598" algn="ctr" defTabSz="3492779" rtl="0" fontAlgn="base">
        <a:spcBef>
          <a:spcPct val="0"/>
        </a:spcBef>
        <a:spcAft>
          <a:spcPct val="0"/>
        </a:spcAft>
        <a:defRPr sz="16799">
          <a:solidFill>
            <a:schemeClr val="tx2"/>
          </a:solidFill>
          <a:latin typeface="Times New Roman" pitchFamily="-106" charset="0"/>
        </a:defRPr>
      </a:lvl8pPr>
      <a:lvl9pPr marL="1567464" algn="ctr" defTabSz="3492779" rtl="0" fontAlgn="base">
        <a:spcBef>
          <a:spcPct val="0"/>
        </a:spcBef>
        <a:spcAft>
          <a:spcPct val="0"/>
        </a:spcAft>
        <a:defRPr sz="16799">
          <a:solidFill>
            <a:schemeClr val="tx2"/>
          </a:solidFill>
          <a:latin typeface="Times New Roman" pitchFamily="-106" charset="0"/>
        </a:defRPr>
      </a:lvl9pPr>
    </p:titleStyle>
    <p:bodyStyle>
      <a:lvl1pPr marL="1310303" indent="-1310303" algn="l" defTabSz="3492779" rtl="0" eaLnBrk="0" fontAlgn="base" hangingPunct="0">
        <a:spcBef>
          <a:spcPct val="20000"/>
        </a:spcBef>
        <a:spcAft>
          <a:spcPct val="0"/>
        </a:spcAft>
        <a:buChar char="•"/>
        <a:defRPr sz="12257">
          <a:solidFill>
            <a:schemeClr val="tx1"/>
          </a:solidFill>
          <a:latin typeface="+mn-lt"/>
          <a:ea typeface="ＭＳ Ｐゴシック" panose="020B0600070205080204" pitchFamily="34" charset="-128"/>
          <a:cs typeface="+mn-cs"/>
        </a:defRPr>
      </a:lvl1pPr>
      <a:lvl2pPr marL="2838308" indent="-1091238" algn="l" defTabSz="3492779" rtl="0" eaLnBrk="0" fontAlgn="base" hangingPunct="0">
        <a:spcBef>
          <a:spcPct val="20000"/>
        </a:spcBef>
        <a:spcAft>
          <a:spcPct val="0"/>
        </a:spcAft>
        <a:buChar char="–"/>
        <a:defRPr sz="10714">
          <a:solidFill>
            <a:schemeClr val="tx1"/>
          </a:solidFill>
          <a:latin typeface="+mn-lt"/>
          <a:ea typeface="ＭＳ Ｐゴシック" pitchFamily="-106" charset="-128"/>
        </a:defRPr>
      </a:lvl2pPr>
      <a:lvl3pPr marL="4366314" indent="-873535" algn="l" defTabSz="3492779" rtl="0" eaLnBrk="0" fontAlgn="base" hangingPunct="0">
        <a:spcBef>
          <a:spcPct val="20000"/>
        </a:spcBef>
        <a:spcAft>
          <a:spcPct val="0"/>
        </a:spcAft>
        <a:buChar char="•"/>
        <a:defRPr sz="9171">
          <a:solidFill>
            <a:schemeClr val="tx1"/>
          </a:solidFill>
          <a:latin typeface="+mn-lt"/>
          <a:ea typeface="ＭＳ Ｐゴシック" pitchFamily="-106" charset="-128"/>
        </a:defRPr>
      </a:lvl3pPr>
      <a:lvl4pPr marL="6113384" indent="-873535" algn="l" defTabSz="3492779" rtl="0" eaLnBrk="0" fontAlgn="base" hangingPunct="0">
        <a:spcBef>
          <a:spcPct val="20000"/>
        </a:spcBef>
        <a:spcAft>
          <a:spcPct val="0"/>
        </a:spcAft>
        <a:buChar char="–"/>
        <a:defRPr sz="7628">
          <a:solidFill>
            <a:schemeClr val="tx1"/>
          </a:solidFill>
          <a:latin typeface="+mn-lt"/>
          <a:ea typeface="ＭＳ Ｐゴシック" pitchFamily="-106" charset="-128"/>
        </a:defRPr>
      </a:lvl4pPr>
      <a:lvl5pPr marL="7859093" indent="-872175" algn="l" defTabSz="3492779" rtl="0" eaLnBrk="0" fontAlgn="base" hangingPunct="0">
        <a:spcBef>
          <a:spcPct val="20000"/>
        </a:spcBef>
        <a:spcAft>
          <a:spcPct val="0"/>
        </a:spcAft>
        <a:buChar char="»"/>
        <a:defRPr sz="7628">
          <a:solidFill>
            <a:schemeClr val="tx1"/>
          </a:solidFill>
          <a:latin typeface="+mn-lt"/>
          <a:ea typeface="ＭＳ Ｐゴシック" pitchFamily="-106" charset="-128"/>
        </a:defRPr>
      </a:lvl5pPr>
      <a:lvl6pPr marL="8250959" indent="-872175" algn="l" defTabSz="3492779" rtl="0" fontAlgn="base">
        <a:spcBef>
          <a:spcPct val="20000"/>
        </a:spcBef>
        <a:spcAft>
          <a:spcPct val="0"/>
        </a:spcAft>
        <a:buChar char="»"/>
        <a:defRPr sz="7628">
          <a:solidFill>
            <a:schemeClr val="tx1"/>
          </a:solidFill>
          <a:latin typeface="+mn-lt"/>
          <a:ea typeface="ＭＳ Ｐゴシック" pitchFamily="-106" charset="-128"/>
        </a:defRPr>
      </a:lvl6pPr>
      <a:lvl7pPr marL="8642825" indent="-872175" algn="l" defTabSz="3492779" rtl="0" fontAlgn="base">
        <a:spcBef>
          <a:spcPct val="20000"/>
        </a:spcBef>
        <a:spcAft>
          <a:spcPct val="0"/>
        </a:spcAft>
        <a:buChar char="»"/>
        <a:defRPr sz="7628">
          <a:solidFill>
            <a:schemeClr val="tx1"/>
          </a:solidFill>
          <a:latin typeface="+mn-lt"/>
          <a:ea typeface="ＭＳ Ｐゴシック" pitchFamily="-106" charset="-128"/>
        </a:defRPr>
      </a:lvl7pPr>
      <a:lvl8pPr marL="9034691" indent="-872175" algn="l" defTabSz="3492779" rtl="0" fontAlgn="base">
        <a:spcBef>
          <a:spcPct val="20000"/>
        </a:spcBef>
        <a:spcAft>
          <a:spcPct val="0"/>
        </a:spcAft>
        <a:buChar char="»"/>
        <a:defRPr sz="7628">
          <a:solidFill>
            <a:schemeClr val="tx1"/>
          </a:solidFill>
          <a:latin typeface="+mn-lt"/>
          <a:ea typeface="ＭＳ Ｐゴシック" pitchFamily="-106" charset="-128"/>
        </a:defRPr>
      </a:lvl8pPr>
      <a:lvl9pPr marL="9426557" indent="-872175" algn="l" defTabSz="3492779" rtl="0" fontAlgn="base">
        <a:spcBef>
          <a:spcPct val="20000"/>
        </a:spcBef>
        <a:spcAft>
          <a:spcPct val="0"/>
        </a:spcAft>
        <a:buChar char="»"/>
        <a:defRPr sz="7628">
          <a:solidFill>
            <a:schemeClr val="tx1"/>
          </a:solidFill>
          <a:latin typeface="+mn-lt"/>
          <a:ea typeface="ＭＳ Ｐゴシック" pitchFamily="-106" charset="-128"/>
        </a:defRPr>
      </a:lvl9pPr>
    </p:bodyStyle>
    <p:otherStyle>
      <a:defPPr>
        <a:defRPr lang="en-US"/>
      </a:defPPr>
      <a:lvl1pPr marL="0" algn="l" defTabSz="391866" rtl="0" eaLnBrk="1" latinLnBrk="0" hangingPunct="1">
        <a:defRPr sz="1543" kern="1200">
          <a:solidFill>
            <a:schemeClr val="tx1"/>
          </a:solidFill>
          <a:latin typeface="+mn-lt"/>
          <a:ea typeface="+mn-ea"/>
          <a:cs typeface="+mn-cs"/>
        </a:defRPr>
      </a:lvl1pPr>
      <a:lvl2pPr marL="391866" algn="l" defTabSz="391866" rtl="0" eaLnBrk="1" latinLnBrk="0" hangingPunct="1">
        <a:defRPr sz="1543" kern="1200">
          <a:solidFill>
            <a:schemeClr val="tx1"/>
          </a:solidFill>
          <a:latin typeface="+mn-lt"/>
          <a:ea typeface="+mn-ea"/>
          <a:cs typeface="+mn-cs"/>
        </a:defRPr>
      </a:lvl2pPr>
      <a:lvl3pPr marL="783732" algn="l" defTabSz="391866" rtl="0" eaLnBrk="1" latinLnBrk="0" hangingPunct="1">
        <a:defRPr sz="1543" kern="1200">
          <a:solidFill>
            <a:schemeClr val="tx1"/>
          </a:solidFill>
          <a:latin typeface="+mn-lt"/>
          <a:ea typeface="+mn-ea"/>
          <a:cs typeface="+mn-cs"/>
        </a:defRPr>
      </a:lvl3pPr>
      <a:lvl4pPr marL="1175598" algn="l" defTabSz="391866" rtl="0" eaLnBrk="1" latinLnBrk="0" hangingPunct="1">
        <a:defRPr sz="1543" kern="1200">
          <a:solidFill>
            <a:schemeClr val="tx1"/>
          </a:solidFill>
          <a:latin typeface="+mn-lt"/>
          <a:ea typeface="+mn-ea"/>
          <a:cs typeface="+mn-cs"/>
        </a:defRPr>
      </a:lvl4pPr>
      <a:lvl5pPr marL="1567464" algn="l" defTabSz="391866" rtl="0" eaLnBrk="1" latinLnBrk="0" hangingPunct="1">
        <a:defRPr sz="1543" kern="1200">
          <a:solidFill>
            <a:schemeClr val="tx1"/>
          </a:solidFill>
          <a:latin typeface="+mn-lt"/>
          <a:ea typeface="+mn-ea"/>
          <a:cs typeface="+mn-cs"/>
        </a:defRPr>
      </a:lvl5pPr>
      <a:lvl6pPr marL="1959331" algn="l" defTabSz="391866" rtl="0" eaLnBrk="1" latinLnBrk="0" hangingPunct="1">
        <a:defRPr sz="1543" kern="1200">
          <a:solidFill>
            <a:schemeClr val="tx1"/>
          </a:solidFill>
          <a:latin typeface="+mn-lt"/>
          <a:ea typeface="+mn-ea"/>
          <a:cs typeface="+mn-cs"/>
        </a:defRPr>
      </a:lvl6pPr>
      <a:lvl7pPr marL="2351197" algn="l" defTabSz="391866" rtl="0" eaLnBrk="1" latinLnBrk="0" hangingPunct="1">
        <a:defRPr sz="1543" kern="1200">
          <a:solidFill>
            <a:schemeClr val="tx1"/>
          </a:solidFill>
          <a:latin typeface="+mn-lt"/>
          <a:ea typeface="+mn-ea"/>
          <a:cs typeface="+mn-cs"/>
        </a:defRPr>
      </a:lvl7pPr>
      <a:lvl8pPr marL="2743063" algn="l" defTabSz="391866" rtl="0" eaLnBrk="1" latinLnBrk="0" hangingPunct="1">
        <a:defRPr sz="1543" kern="1200">
          <a:solidFill>
            <a:schemeClr val="tx1"/>
          </a:solidFill>
          <a:latin typeface="+mn-lt"/>
          <a:ea typeface="+mn-ea"/>
          <a:cs typeface="+mn-cs"/>
        </a:defRPr>
      </a:lvl8pPr>
      <a:lvl9pPr marL="3134929" algn="l" defTabSz="391866" rtl="0" eaLnBrk="1" latinLnBrk="0" hangingPunct="1">
        <a:defRPr sz="154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microsoft.com/office/2007/relationships/hdphoto" Target="../media/hdphoto4.wdp"/><Relationship Id="rId3" Type="http://schemas.openxmlformats.org/officeDocument/2006/relationships/notesSlide" Target="../notesSlides/notesSlide1.xml"/><Relationship Id="rId7" Type="http://schemas.microsoft.com/office/2007/relationships/hdphoto" Target="../media/hdphoto1.wdp"/><Relationship Id="rId12"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3.png"/><Relationship Id="rId11" Type="http://schemas.microsoft.com/office/2007/relationships/hdphoto" Target="../media/hdphoto3.wdp"/><Relationship Id="rId5" Type="http://schemas.openxmlformats.org/officeDocument/2006/relationships/image" Target="../media/image2.png"/><Relationship Id="rId10" Type="http://schemas.openxmlformats.org/officeDocument/2006/relationships/image" Target="../media/image5.png"/><Relationship Id="rId4" Type="http://schemas.openxmlformats.org/officeDocument/2006/relationships/image" Target="../media/image1.png"/><Relationship Id="rId9"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178">
            <a:extLst>
              <a:ext uri="{FF2B5EF4-FFF2-40B4-BE49-F238E27FC236}">
                <a16:creationId xmlns:a16="http://schemas.microsoft.com/office/drawing/2014/main" id="{31EF8C3E-788A-7833-1A67-2AA20B328D4A}"/>
              </a:ext>
            </a:extLst>
          </p:cNvPr>
          <p:cNvSpPr>
            <a:spLocks noChangeArrowheads="1"/>
          </p:cNvSpPr>
          <p:nvPr/>
        </p:nvSpPr>
        <p:spPr bwMode="auto">
          <a:xfrm>
            <a:off x="214153" y="487680"/>
            <a:ext cx="43462895" cy="3188208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buFontTx/>
              <a:buNone/>
            </a:pPr>
            <a:endParaRPr lang="en-US" altLang="en-US" sz="2743">
              <a:latin typeface="Helvetica" pitchFamily="2" charset="0"/>
            </a:endParaRPr>
          </a:p>
        </p:txBody>
      </p:sp>
      <p:sp>
        <p:nvSpPr>
          <p:cNvPr id="15363" name="Text Box 7">
            <a:extLst>
              <a:ext uri="{FF2B5EF4-FFF2-40B4-BE49-F238E27FC236}">
                <a16:creationId xmlns:a16="http://schemas.microsoft.com/office/drawing/2014/main" id="{B1895EC0-C886-C529-4FA4-E54B9C83EF3A}"/>
              </a:ext>
            </a:extLst>
          </p:cNvPr>
          <p:cNvSpPr txBox="1">
            <a:spLocks noChangeArrowheads="1"/>
          </p:cNvSpPr>
          <p:nvPr/>
        </p:nvSpPr>
        <p:spPr bwMode="auto">
          <a:xfrm>
            <a:off x="1337164" y="6034922"/>
            <a:ext cx="10450804" cy="10530046"/>
          </a:xfrm>
          <a:prstGeom prst="rect">
            <a:avLst/>
          </a:prstGeom>
          <a:solidFill>
            <a:schemeClr val="bg1"/>
          </a:solidFill>
          <a:ln w="12700">
            <a:solidFill>
              <a:schemeClr val="hlink"/>
            </a:solidFill>
            <a:miter lim="800000"/>
            <a:headEnd/>
            <a:tailEnd/>
          </a:ln>
        </p:spPr>
        <p:txBody>
          <a:bodyPr lIns="783771" tIns="391886" rIns="783771" bIns="783771"/>
          <a:lstStyle>
            <a:lvl1pPr>
              <a:spcBef>
                <a:spcPct val="20000"/>
              </a:spcBef>
              <a:buChar char="•"/>
              <a:tabLst>
                <a:tab pos="500063" algn="l"/>
              </a:tabLst>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tabLst>
                <a:tab pos="500063" algn="l"/>
              </a:tabLst>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tabLst>
                <a:tab pos="500063" algn="l"/>
              </a:tabLst>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50000"/>
              </a:spcBef>
              <a:buFontTx/>
              <a:buNone/>
            </a:pPr>
            <a:r>
              <a:rPr lang="en-US" altLang="en-US" sz="3771" b="1">
                <a:solidFill>
                  <a:srgbClr val="007DCC"/>
                </a:solidFill>
                <a:latin typeface="Helvetica" pitchFamily="2" charset="0"/>
              </a:rPr>
              <a:t>Introduction</a:t>
            </a:r>
          </a:p>
          <a:p>
            <a:pPr eaLnBrk="1" hangingPunct="1">
              <a:spcBef>
                <a:spcPct val="10000"/>
              </a:spcBef>
              <a:buFontTx/>
              <a:buNone/>
            </a:pPr>
            <a:r>
              <a:rPr lang="en-US" altLang="en-US" sz="2057"/>
              <a:t>	</a:t>
            </a:r>
          </a:p>
          <a:p>
            <a:pPr eaLnBrk="1" hangingPunct="1">
              <a:spcBef>
                <a:spcPct val="10000"/>
              </a:spcBef>
              <a:buFontTx/>
              <a:buNone/>
            </a:pPr>
            <a:r>
              <a:rPr lang="en-US" altLang="en-US" sz="2057"/>
              <a:t>Childhood obesity has increased in the United States and is associated with comorbidities such as type 2 diabetes and cardiovascular disease.</a:t>
            </a:r>
            <a:r>
              <a:rPr lang="en-US" altLang="en-US" sz="2057" baseline="30000"/>
              <a:t>1</a:t>
            </a:r>
            <a:r>
              <a:rPr lang="en-US" altLang="en-US" sz="2057"/>
              <a:t> Asthma commonly co-occurs with obesity, and evidence suggests that obesity worsens asthma severity and reduces symptom control.</a:t>
            </a:r>
            <a:r>
              <a:rPr lang="en-US" altLang="en-US" sz="2057" baseline="30000"/>
              <a:t>2,3 </a:t>
            </a:r>
            <a:r>
              <a:rPr lang="en-US" altLang="en-US" sz="2057"/>
              <a:t>This may impair lung function and reduce the effectiveness of treatments, increasing healthcare utilization among affected children.</a:t>
            </a:r>
            <a:r>
              <a:rPr lang="en-US" altLang="en-US" sz="2057" baseline="30000"/>
              <a:t>3,4</a:t>
            </a:r>
          </a:p>
          <a:p>
            <a:pPr eaLnBrk="1" hangingPunct="1">
              <a:spcBef>
                <a:spcPct val="10000"/>
              </a:spcBef>
              <a:buFontTx/>
              <a:buNone/>
            </a:pPr>
            <a:endParaRPr lang="en-US" altLang="en-US" sz="2057" baseline="30000"/>
          </a:p>
          <a:p>
            <a:pPr eaLnBrk="1" hangingPunct="1">
              <a:spcBef>
                <a:spcPct val="10000"/>
              </a:spcBef>
              <a:buFontTx/>
              <a:buNone/>
            </a:pPr>
            <a:r>
              <a:rPr lang="en-US" altLang="en-US" sz="2057"/>
              <a:t>Physical activity may help reduce obesity risk and improve lung function in children with asthma, potentially decreasing asthma exacerbations.</a:t>
            </a:r>
            <a:r>
              <a:rPr lang="en-US" altLang="en-US" sz="2057" baseline="30000"/>
              <a:t>4-8</a:t>
            </a:r>
            <a:r>
              <a:rPr lang="en-US" altLang="en-US" sz="2057"/>
              <a:t> However, children with asthma may be less likely to engage in physical activity due to barriers such as fear of exercise-induced bronchoconstriction (EIB), caregiver concerns about symptom management, and limited adherence to treatment plans.</a:t>
            </a:r>
            <a:r>
              <a:rPr lang="en-US" altLang="en-US" sz="2057" baseline="30000"/>
              <a:t>5,6,9</a:t>
            </a:r>
            <a:r>
              <a:rPr lang="en-US" altLang="en-US" sz="2057"/>
              <a:t> Furthermore Psychosocial and environmental factors, including adverse childhood experiences (ACEs), lack of safe recreational spaces, and neighborhood safety concerns, further limit physical activity opportunities.</a:t>
            </a:r>
            <a:r>
              <a:rPr lang="en-US" altLang="en-US" sz="2057" baseline="30000"/>
              <a:t>4˒8-12</a:t>
            </a:r>
          </a:p>
          <a:p>
            <a:pPr eaLnBrk="1" hangingPunct="1">
              <a:spcBef>
                <a:spcPct val="10000"/>
              </a:spcBef>
              <a:buFontTx/>
              <a:buNone/>
            </a:pPr>
            <a:endParaRPr lang="en-US" altLang="en-US" sz="2057" baseline="30000"/>
          </a:p>
          <a:p>
            <a:pPr eaLnBrk="1" hangingPunct="1">
              <a:spcBef>
                <a:spcPct val="10000"/>
              </a:spcBef>
              <a:buFontTx/>
              <a:buNone/>
            </a:pPr>
            <a:r>
              <a:rPr lang="en-US" altLang="en-US" sz="2057"/>
              <a:t>Neighborhood infrastructure may play a key role in promoting physical activity. Greater walkability, including the presence of sidewalks, has been associated with increased physical activity among children</a:t>
            </a:r>
            <a:r>
              <a:rPr lang="en-US" altLang="en-US" sz="2057" baseline="30000"/>
              <a:t>.12-17 </a:t>
            </a:r>
            <a:r>
              <a:rPr lang="en-US" altLang="en-US" sz="2057"/>
              <a:t>However, this relationship varies based on neighborhood safety,  neighborhood aesthetics, quality of sidewalk, and socioeconomic conditions.</a:t>
            </a:r>
            <a:r>
              <a:rPr lang="en-US" altLang="en-US" sz="2057" baseline="30000"/>
              <a:t>12,16 18-20</a:t>
            </a:r>
          </a:p>
          <a:p>
            <a:pPr eaLnBrk="1" hangingPunct="1">
              <a:spcBef>
                <a:spcPct val="10000"/>
              </a:spcBef>
              <a:buFontTx/>
              <a:buNone/>
            </a:pPr>
            <a:endParaRPr lang="en-US" altLang="en-US" sz="2057" baseline="30000"/>
          </a:p>
          <a:p>
            <a:pPr eaLnBrk="1" hangingPunct="1">
              <a:spcBef>
                <a:spcPct val="10000"/>
              </a:spcBef>
              <a:buFontTx/>
              <a:buNone/>
            </a:pPr>
            <a:r>
              <a:rPr lang="en-US" altLang="en-US" sz="2057"/>
              <a:t>Despite existing research, no studies have specifically examined the association between sidewalk availability and physical activity among children with asthma. This study uses 2023 National Survey of Children’s Health (NSCH) data to assess whether sidewalk presence is associated with daily physical activity.</a:t>
            </a:r>
            <a:r>
              <a:rPr lang="en-US" altLang="en-US" sz="2057" baseline="30000"/>
              <a:t> 21 </a:t>
            </a:r>
            <a:r>
              <a:rPr lang="en-US" altLang="en-US" sz="2057"/>
              <a:t>It is hypothesized  that children with access to sidewalks are more likely to engage in daily physical activity.</a:t>
            </a:r>
          </a:p>
          <a:p>
            <a:pPr eaLnBrk="1" hangingPunct="1">
              <a:spcBef>
                <a:spcPct val="10000"/>
              </a:spcBef>
              <a:buFontTx/>
              <a:buNone/>
            </a:pPr>
            <a:endParaRPr lang="en-US" altLang="en-US" sz="2057"/>
          </a:p>
        </p:txBody>
      </p:sp>
      <p:sp>
        <p:nvSpPr>
          <p:cNvPr id="15364" name="Text Box 11">
            <a:extLst>
              <a:ext uri="{FF2B5EF4-FFF2-40B4-BE49-F238E27FC236}">
                <a16:creationId xmlns:a16="http://schemas.microsoft.com/office/drawing/2014/main" id="{4558FEE9-1050-080F-BA9F-D5B7785A5E4B}"/>
              </a:ext>
            </a:extLst>
          </p:cNvPr>
          <p:cNvSpPr txBox="1">
            <a:spLocks noChangeArrowheads="1"/>
          </p:cNvSpPr>
          <p:nvPr/>
        </p:nvSpPr>
        <p:spPr bwMode="auto">
          <a:xfrm>
            <a:off x="1284158" y="18859557"/>
            <a:ext cx="10476495" cy="10775649"/>
          </a:xfrm>
          <a:prstGeom prst="rect">
            <a:avLst/>
          </a:prstGeom>
          <a:solidFill>
            <a:schemeClr val="bg1"/>
          </a:solidFill>
          <a:ln w="12700">
            <a:solidFill>
              <a:schemeClr val="hlink"/>
            </a:solidFill>
            <a:miter lim="800000"/>
            <a:headEnd/>
            <a:tailEnd/>
          </a:ln>
        </p:spPr>
        <p:txBody>
          <a:bodyPr lIns="783771" tIns="391886" rIns="783771" bIns="783771"/>
          <a:lstStyle>
            <a:lvl1pPr>
              <a:spcBef>
                <a:spcPct val="20000"/>
              </a:spcBef>
              <a:buChar char="•"/>
              <a:tabLst>
                <a:tab pos="508000" algn="l"/>
              </a:tabLst>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tabLst>
                <a:tab pos="508000" algn="l"/>
              </a:tabLst>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tabLst>
                <a:tab pos="508000" algn="l"/>
              </a:tabLst>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50000"/>
              </a:spcBef>
              <a:buFontTx/>
              <a:buNone/>
            </a:pPr>
            <a:r>
              <a:rPr lang="en-US" altLang="en-US" sz="3771" b="1">
                <a:solidFill>
                  <a:srgbClr val="007DCC"/>
                </a:solidFill>
                <a:latin typeface="Helvetica" pitchFamily="2" charset="0"/>
              </a:rPr>
              <a:t>Methods</a:t>
            </a:r>
          </a:p>
          <a:p>
            <a:pPr algn="just" eaLnBrk="1" hangingPunct="1">
              <a:spcBef>
                <a:spcPct val="50000"/>
              </a:spcBef>
              <a:buFontTx/>
              <a:buNone/>
            </a:pPr>
            <a:r>
              <a:rPr lang="en-US" altLang="en-US" sz="2057">
                <a:solidFill>
                  <a:srgbClr val="007DCC"/>
                </a:solidFill>
              </a:rPr>
              <a:t>	</a:t>
            </a:r>
          </a:p>
          <a:p>
            <a:pPr eaLnBrk="1" hangingPunct="1">
              <a:spcBef>
                <a:spcPct val="10000"/>
              </a:spcBef>
              <a:buNone/>
            </a:pPr>
            <a:r>
              <a:rPr lang="en-US" altLang="en-US" sz="2057" b="1" u="sng"/>
              <a:t>Data Source &amp; Sample</a:t>
            </a:r>
          </a:p>
          <a:p>
            <a:pPr marL="293900" indent="-293900" eaLnBrk="1" hangingPunct="1">
              <a:spcBef>
                <a:spcPct val="10000"/>
              </a:spcBef>
            </a:pPr>
            <a:r>
              <a:rPr lang="en-US" altLang="en-US" sz="1971"/>
              <a:t>2023 National Survey of Children’s Health (NSCH)</a:t>
            </a:r>
          </a:p>
          <a:p>
            <a:pPr marL="293900" indent="-293900" eaLnBrk="1" hangingPunct="1">
              <a:spcBef>
                <a:spcPct val="10000"/>
              </a:spcBef>
            </a:pPr>
            <a:r>
              <a:rPr lang="en-US" altLang="en-US" sz="2057"/>
              <a:t>Nationally representative, parent-reported survey</a:t>
            </a:r>
          </a:p>
          <a:p>
            <a:pPr marL="293900" indent="-293900" eaLnBrk="1" hangingPunct="1">
              <a:spcBef>
                <a:spcPct val="10000"/>
              </a:spcBef>
            </a:pPr>
            <a:r>
              <a:rPr lang="en-US" altLang="en-US" sz="2057"/>
              <a:t>Included children ages 6–17 with current asthma</a:t>
            </a:r>
          </a:p>
          <a:p>
            <a:pPr marL="293900" indent="-293900" eaLnBrk="1" hangingPunct="1">
              <a:spcBef>
                <a:spcPct val="10000"/>
              </a:spcBef>
            </a:pPr>
            <a:r>
              <a:rPr lang="en-US" altLang="en-US" sz="2057"/>
              <a:t>Final analytic sample: N = 16,194 (weighted)</a:t>
            </a:r>
          </a:p>
          <a:p>
            <a:pPr eaLnBrk="1" hangingPunct="1">
              <a:spcBef>
                <a:spcPct val="10000"/>
              </a:spcBef>
              <a:buFontTx/>
              <a:buNone/>
            </a:pPr>
            <a:r>
              <a:rPr lang="en-US" altLang="en-US" sz="2057" b="1" u="sng"/>
              <a:t>Measures</a:t>
            </a:r>
          </a:p>
          <a:p>
            <a:pPr marL="293900" indent="-293900" eaLnBrk="1" hangingPunct="1">
              <a:spcBef>
                <a:spcPct val="10000"/>
              </a:spcBef>
            </a:pPr>
            <a:r>
              <a:rPr lang="en-US" altLang="en-US" sz="2057" b="1" u="sng"/>
              <a:t>Exposure</a:t>
            </a:r>
            <a:r>
              <a:rPr lang="en-US" altLang="en-US" sz="2057" b="1"/>
              <a:t>: </a:t>
            </a:r>
            <a:r>
              <a:rPr lang="en-US" altLang="en-US" sz="2057"/>
              <a:t>Neighborhood sidewalk presence (yes/no)</a:t>
            </a:r>
          </a:p>
          <a:p>
            <a:pPr marL="293900" indent="-293900" eaLnBrk="1" hangingPunct="1">
              <a:spcBef>
                <a:spcPct val="10000"/>
              </a:spcBef>
            </a:pPr>
            <a:r>
              <a:rPr lang="en-US" altLang="en-US" sz="2057" b="1" u="sng"/>
              <a:t>Outcome</a:t>
            </a:r>
            <a:r>
              <a:rPr lang="en-US" altLang="en-US" sz="2057" b="1"/>
              <a:t>: </a:t>
            </a:r>
            <a:r>
              <a:rPr lang="en-US" altLang="en-US" sz="2057"/>
              <a:t>Daily physical activity (≥60 min/day, yes/no)</a:t>
            </a:r>
          </a:p>
          <a:p>
            <a:pPr marL="293900" indent="-293900" eaLnBrk="1" hangingPunct="1">
              <a:spcBef>
                <a:spcPct val="10000"/>
              </a:spcBef>
            </a:pPr>
            <a:r>
              <a:rPr lang="en-US" altLang="en-US" sz="2057" b="1" u="sng"/>
              <a:t>Covariates</a:t>
            </a:r>
            <a:r>
              <a:rPr lang="en-US" altLang="en-US" sz="2057" b="1"/>
              <a:t>:</a:t>
            </a:r>
          </a:p>
          <a:p>
            <a:pPr marL="293900" indent="-293900" eaLnBrk="1" hangingPunct="1">
              <a:spcBef>
                <a:spcPct val="10000"/>
              </a:spcBef>
            </a:pPr>
            <a:r>
              <a:rPr lang="en-US" altLang="en-US" sz="2057"/>
              <a:t>Demographics: age (6–11, 12–17), sex</a:t>
            </a:r>
          </a:p>
          <a:p>
            <a:pPr marL="293900" indent="-293900" eaLnBrk="1" hangingPunct="1">
              <a:spcBef>
                <a:spcPct val="10000"/>
              </a:spcBef>
            </a:pPr>
            <a:r>
              <a:rPr lang="en-US" altLang="en-US" sz="2057"/>
              <a:t>Socioeconomic status: federal poverty level (FPL; 4 categories)</a:t>
            </a:r>
          </a:p>
          <a:p>
            <a:pPr marL="293900" indent="-293900" eaLnBrk="1" hangingPunct="1">
              <a:spcBef>
                <a:spcPct val="10000"/>
              </a:spcBef>
            </a:pPr>
            <a:r>
              <a:rPr lang="en-US" altLang="en-US" sz="2057"/>
              <a:t>Adverse childhood experiences (ACEs; 0, 1, ≥2)</a:t>
            </a:r>
          </a:p>
          <a:p>
            <a:pPr marL="293900" indent="-293900" eaLnBrk="1" hangingPunct="1">
              <a:spcBef>
                <a:spcPct val="10000"/>
              </a:spcBef>
            </a:pPr>
            <a:r>
              <a:rPr lang="en-US" altLang="en-US" sz="2057" b="1" u="sng"/>
              <a:t>Effect Modifiers</a:t>
            </a:r>
          </a:p>
          <a:p>
            <a:pPr marL="293900" indent="-293900" eaLnBrk="1" hangingPunct="1">
              <a:spcBef>
                <a:spcPct val="10000"/>
              </a:spcBef>
            </a:pPr>
            <a:r>
              <a:rPr lang="en-US" altLang="en-US" sz="2057"/>
              <a:t>Neighborhood safety (safe vs. unsafe)</a:t>
            </a:r>
          </a:p>
          <a:p>
            <a:pPr marL="293900" indent="-293900" eaLnBrk="1" hangingPunct="1">
              <a:spcBef>
                <a:spcPct val="10000"/>
              </a:spcBef>
            </a:pPr>
            <a:r>
              <a:rPr lang="en-US" altLang="en-US" sz="2057"/>
              <a:t>Neighborhood detracting elements (e.g., litter, vandalism; yes/no)</a:t>
            </a:r>
          </a:p>
          <a:p>
            <a:pPr eaLnBrk="1" hangingPunct="1">
              <a:spcBef>
                <a:spcPct val="10000"/>
              </a:spcBef>
              <a:buFontTx/>
              <a:buNone/>
            </a:pPr>
            <a:r>
              <a:rPr lang="en-US" altLang="en-US" sz="2057" b="1" u="sng"/>
              <a:t>Statistical Analysis</a:t>
            </a:r>
          </a:p>
          <a:p>
            <a:pPr marL="293900" indent="-293900" eaLnBrk="1" hangingPunct="1">
              <a:spcBef>
                <a:spcPct val="10000"/>
              </a:spcBef>
            </a:pPr>
            <a:r>
              <a:rPr lang="en-US" altLang="en-US" sz="2057"/>
              <a:t>Survey-weighted descriptive statistics</a:t>
            </a:r>
          </a:p>
          <a:p>
            <a:pPr marL="293900" indent="-293900" eaLnBrk="1" hangingPunct="1">
              <a:spcBef>
                <a:spcPct val="10000"/>
              </a:spcBef>
            </a:pPr>
            <a:r>
              <a:rPr lang="en-US" altLang="en-US" sz="2057"/>
              <a:t>Survey-weighted logistic regression to estimate odds of daily physical activity</a:t>
            </a:r>
          </a:p>
          <a:p>
            <a:pPr marL="293900" indent="-293900" eaLnBrk="1" hangingPunct="1">
              <a:spcBef>
                <a:spcPct val="10000"/>
              </a:spcBef>
            </a:pPr>
            <a:r>
              <a:rPr lang="en-US" altLang="en-US" sz="2057"/>
              <a:t>Sequential models: crude, adjusted, fully adjusted</a:t>
            </a:r>
          </a:p>
          <a:p>
            <a:pPr marL="293900" indent="-293900" eaLnBrk="1" hangingPunct="1">
              <a:spcBef>
                <a:spcPct val="10000"/>
              </a:spcBef>
            </a:pPr>
            <a:r>
              <a:rPr lang="en-US" altLang="en-US" sz="2057"/>
              <a:t>Interaction terms tested for neighborhood safety and detracting elements</a:t>
            </a:r>
          </a:p>
          <a:p>
            <a:pPr marL="293900" indent="-293900" eaLnBrk="1" hangingPunct="1">
              <a:spcBef>
                <a:spcPct val="10000"/>
              </a:spcBef>
            </a:pPr>
            <a:r>
              <a:rPr lang="en-US" altLang="en-US" sz="2057"/>
              <a:t>Stratified and sensitivity analyses conducted</a:t>
            </a:r>
          </a:p>
          <a:p>
            <a:pPr marL="293900" indent="-293900" eaLnBrk="1" hangingPunct="1">
              <a:spcBef>
                <a:spcPct val="10000"/>
              </a:spcBef>
            </a:pPr>
            <a:r>
              <a:rPr lang="en-US" altLang="en-US" sz="2057"/>
              <a:t>All analyses were conducted using SAS Studio OnDemand for Academics (SAS Institute Inc., Cary, NC).</a:t>
            </a:r>
          </a:p>
          <a:p>
            <a:pPr marL="293900" indent="-293900" eaLnBrk="1" hangingPunct="1">
              <a:spcBef>
                <a:spcPct val="10000"/>
              </a:spcBef>
            </a:pPr>
            <a:r>
              <a:rPr lang="en-US" altLang="en-US" sz="2057" b="1" u="sng"/>
              <a:t>Ethics</a:t>
            </a:r>
            <a:endParaRPr lang="en-US" altLang="en-US" sz="2057"/>
          </a:p>
          <a:p>
            <a:pPr marL="293900" indent="-293900" eaLnBrk="1" hangingPunct="1">
              <a:spcBef>
                <a:spcPct val="10000"/>
              </a:spcBef>
            </a:pPr>
            <a:r>
              <a:rPr lang="en-US" altLang="en-US" sz="2057"/>
              <a:t>Exempt (public-use, de-identified data)</a:t>
            </a:r>
          </a:p>
        </p:txBody>
      </p:sp>
      <p:sp>
        <p:nvSpPr>
          <p:cNvPr id="15365" name="Text Box 16">
            <a:extLst>
              <a:ext uri="{FF2B5EF4-FFF2-40B4-BE49-F238E27FC236}">
                <a16:creationId xmlns:a16="http://schemas.microsoft.com/office/drawing/2014/main" id="{EBF4DCAD-F02F-ABF7-7B51-67F04B301701}"/>
              </a:ext>
            </a:extLst>
          </p:cNvPr>
          <p:cNvSpPr txBox="1">
            <a:spLocks noChangeArrowheads="1"/>
          </p:cNvSpPr>
          <p:nvPr/>
        </p:nvSpPr>
        <p:spPr bwMode="auto">
          <a:xfrm>
            <a:off x="32656803" y="25625486"/>
            <a:ext cx="9957543" cy="1749425"/>
          </a:xfrm>
          <a:prstGeom prst="rect">
            <a:avLst/>
          </a:prstGeom>
          <a:solidFill>
            <a:schemeClr val="bg1"/>
          </a:solidFill>
          <a:ln w="12700">
            <a:solidFill>
              <a:schemeClr val="hlink"/>
            </a:solidFill>
            <a:miter lim="800000"/>
            <a:headEnd/>
            <a:tailEnd/>
          </a:ln>
        </p:spPr>
        <p:txBody>
          <a:bodyPr lIns="783771" tIns="391886" rIns="783771" bIns="783771"/>
          <a:lstStyle>
            <a:lvl1pPr>
              <a:spcBef>
                <a:spcPct val="20000"/>
              </a:spcBef>
              <a:buChar char="•"/>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en-US" altLang="en-US" sz="3771" b="1">
                <a:solidFill>
                  <a:srgbClr val="007DCC"/>
                </a:solidFill>
                <a:latin typeface="Helvetica" pitchFamily="2" charset="0"/>
              </a:rPr>
              <a:t>Acknowledgments</a:t>
            </a:r>
          </a:p>
          <a:p>
            <a:pPr eaLnBrk="1" hangingPunct="1">
              <a:spcBef>
                <a:spcPct val="10000"/>
              </a:spcBef>
              <a:buFontTx/>
              <a:buNone/>
            </a:pPr>
            <a:r>
              <a:rPr lang="en-US" altLang="en-US" sz="1714"/>
              <a:t>I’d like to thank C. </a:t>
            </a:r>
            <a:r>
              <a:rPr lang="en-US" altLang="en-US" sz="1714" err="1"/>
              <a:t>Mirzayi</a:t>
            </a:r>
            <a:r>
              <a:rPr lang="en-US" altLang="en-US" sz="1714"/>
              <a:t> for her feedback.</a:t>
            </a:r>
          </a:p>
        </p:txBody>
      </p:sp>
      <p:sp>
        <p:nvSpPr>
          <p:cNvPr id="15366" name="Text Box 12">
            <a:extLst>
              <a:ext uri="{FF2B5EF4-FFF2-40B4-BE49-F238E27FC236}">
                <a16:creationId xmlns:a16="http://schemas.microsoft.com/office/drawing/2014/main" id="{ABAFA946-CC3E-5179-1D76-EC9EFCBC4429}"/>
              </a:ext>
            </a:extLst>
          </p:cNvPr>
          <p:cNvSpPr txBox="1">
            <a:spLocks noChangeArrowheads="1"/>
          </p:cNvSpPr>
          <p:nvPr/>
        </p:nvSpPr>
        <p:spPr bwMode="auto">
          <a:xfrm>
            <a:off x="12310041" y="6034922"/>
            <a:ext cx="10634323" cy="23583955"/>
          </a:xfrm>
          <a:prstGeom prst="rect">
            <a:avLst/>
          </a:prstGeom>
          <a:solidFill>
            <a:schemeClr val="bg1"/>
          </a:solidFill>
          <a:ln w="12700">
            <a:solidFill>
              <a:schemeClr val="hlink"/>
            </a:solidFill>
            <a:miter lim="800000"/>
            <a:headEnd/>
            <a:tailEnd/>
          </a:ln>
        </p:spPr>
        <p:txBody>
          <a:bodyPr lIns="783771" tIns="391886" rIns="783771" bIns="783771"/>
          <a:lstStyle>
            <a:lvl1pPr>
              <a:spcBef>
                <a:spcPct val="20000"/>
              </a:spcBef>
              <a:buChar char="•"/>
              <a:tabLst>
                <a:tab pos="500063" algn="l"/>
              </a:tabLst>
              <a:defRPr sz="14300">
                <a:solidFill>
                  <a:schemeClr val="tx1"/>
                </a:solidFill>
                <a:latin typeface="Times New Roman" panose="02020603050405020304" pitchFamily="18" charset="0"/>
                <a:ea typeface="ＭＳ Ｐゴシック" panose="020B0600070205080204" pitchFamily="34" charset="-128"/>
              </a:defRPr>
            </a:lvl1pPr>
            <a:lvl2pPr marL="1385888" indent="-346075">
              <a:spcBef>
                <a:spcPct val="20000"/>
              </a:spcBef>
              <a:buChar char="–"/>
              <a:tabLst>
                <a:tab pos="500063" algn="l"/>
              </a:tabLst>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tabLst>
                <a:tab pos="500063" algn="l"/>
              </a:tabLst>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0"/>
              </a:spcBef>
              <a:buFontTx/>
              <a:buNone/>
            </a:pPr>
            <a:r>
              <a:rPr lang="en-US" altLang="en-US" sz="3771" b="1">
                <a:solidFill>
                  <a:srgbClr val="007DCC"/>
                </a:solidFill>
                <a:latin typeface="Helvetica" pitchFamily="2" charset="0"/>
              </a:rPr>
              <a:t>Results</a:t>
            </a:r>
          </a:p>
          <a:p>
            <a:pPr algn="just" eaLnBrk="1" hangingPunct="1">
              <a:spcBef>
                <a:spcPct val="0"/>
              </a:spcBef>
              <a:buFontTx/>
              <a:buNone/>
            </a:pPr>
            <a:endParaRPr lang="en-US" altLang="en-US" sz="2057" b="1">
              <a:solidFill>
                <a:srgbClr val="007DCC"/>
              </a:solidFill>
              <a:latin typeface="Helvetica" pitchFamily="2" charset="0"/>
            </a:endParaRPr>
          </a:p>
          <a:p>
            <a:pPr eaLnBrk="1" hangingPunct="1">
              <a:spcBef>
                <a:spcPct val="10000"/>
              </a:spcBef>
              <a:buFontTx/>
              <a:buNone/>
            </a:pPr>
            <a:r>
              <a:rPr lang="en-US" altLang="en-US" sz="2057"/>
              <a:t>Among 16,194 children with asthma, 77.1% reported neighborhood sidewalks. Sidewalk presence was more common among adolescents, males, higher-income households, and those reporting safer neighborhoods and fewer detracting elements.</a:t>
            </a:r>
          </a:p>
          <a:p>
            <a:pPr eaLnBrk="1" hangingPunct="1">
              <a:spcBef>
                <a:spcPct val="10000"/>
              </a:spcBef>
              <a:buFontTx/>
              <a:buNone/>
            </a:pPr>
            <a:endParaRPr lang="en-US" altLang="en-US" sz="2057"/>
          </a:p>
          <a:p>
            <a:pPr eaLnBrk="1" hangingPunct="1">
              <a:spcBef>
                <a:spcPct val="10000"/>
              </a:spcBef>
              <a:buFontTx/>
              <a:buNone/>
            </a:pPr>
            <a:r>
              <a:rPr lang="en-US" altLang="en-US" sz="2057"/>
              <a:t>No significant association was found between sidewalk presence and daily physical activity across all models. In crude analysis, sidewalks were associated with slightly lower odds of daily activity (OR: 0.96; 95% CI: 0.77–1.18), which remained non-significant after adjustment. Sensitivity analyses showed consistent results.</a:t>
            </a:r>
          </a:p>
          <a:p>
            <a:pPr eaLnBrk="1" hangingPunct="1">
              <a:spcBef>
                <a:spcPct val="10000"/>
              </a:spcBef>
              <a:buFontTx/>
              <a:buNone/>
            </a:pPr>
            <a:endParaRPr lang="en-US" altLang="en-US" sz="2057"/>
          </a:p>
          <a:p>
            <a:pPr eaLnBrk="1" hangingPunct="1">
              <a:spcBef>
                <a:spcPct val="10000"/>
              </a:spcBef>
              <a:buFontTx/>
              <a:buNone/>
            </a:pPr>
            <a:r>
              <a:rPr lang="en-US" altLang="en-US" sz="2057"/>
              <a:t>No effect modification was observed by neighborhood safety or conditions, and stratified analyses remained non-significant across all subgroups.</a:t>
            </a:r>
          </a:p>
          <a:p>
            <a:pPr lvl="1" eaLnBrk="1" hangingPunct="1">
              <a:spcBef>
                <a:spcPct val="10000"/>
              </a:spcBef>
              <a:buFont typeface="Times New Roman" panose="02020603050405020304" pitchFamily="18" charset="0"/>
              <a:buChar char="•"/>
            </a:pPr>
            <a:endParaRPr lang="en-US" altLang="en-US" sz="2057">
              <a:latin typeface="Helvetica" pitchFamily="2" charset="0"/>
            </a:endParaRPr>
          </a:p>
          <a:p>
            <a:pPr eaLnBrk="1" hangingPunct="1">
              <a:spcBef>
                <a:spcPct val="10000"/>
              </a:spcBef>
              <a:buFontTx/>
              <a:buNone/>
            </a:pPr>
            <a:r>
              <a:rPr lang="en-US" altLang="en-US" sz="2057"/>
              <a:t>	</a:t>
            </a:r>
          </a:p>
        </p:txBody>
      </p:sp>
      <p:sp>
        <p:nvSpPr>
          <p:cNvPr id="15367" name="Text Box 13">
            <a:extLst>
              <a:ext uri="{FF2B5EF4-FFF2-40B4-BE49-F238E27FC236}">
                <a16:creationId xmlns:a16="http://schemas.microsoft.com/office/drawing/2014/main" id="{1445EB3E-A03B-B19D-ECA5-D1C2E8C94AA9}"/>
              </a:ext>
            </a:extLst>
          </p:cNvPr>
          <p:cNvSpPr txBox="1">
            <a:spLocks noChangeArrowheads="1"/>
          </p:cNvSpPr>
          <p:nvPr/>
        </p:nvSpPr>
        <p:spPr bwMode="auto">
          <a:xfrm>
            <a:off x="32656803" y="6034922"/>
            <a:ext cx="9847829" cy="8236704"/>
          </a:xfrm>
          <a:prstGeom prst="rect">
            <a:avLst/>
          </a:prstGeom>
          <a:solidFill>
            <a:schemeClr val="bg1"/>
          </a:solidFill>
          <a:ln w="12700">
            <a:solidFill>
              <a:schemeClr val="hlink"/>
            </a:solidFill>
            <a:miter lim="800000"/>
            <a:headEnd/>
            <a:tailEnd/>
          </a:ln>
        </p:spPr>
        <p:txBody>
          <a:bodyPr lIns="783771" tIns="391886" rIns="783771" bIns="783771"/>
          <a:lstStyle>
            <a:lvl1pPr>
              <a:spcBef>
                <a:spcPct val="20000"/>
              </a:spcBef>
              <a:buChar char="•"/>
              <a:tabLst>
                <a:tab pos="635000" algn="l"/>
              </a:tabLst>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tabLst>
                <a:tab pos="635000" algn="l"/>
              </a:tabLst>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tabLst>
                <a:tab pos="635000" algn="l"/>
              </a:tabLst>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tabLst>
                <a:tab pos="635000" algn="l"/>
              </a:tabLst>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tabLst>
                <a:tab pos="635000" algn="l"/>
              </a:tabLst>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tabLst>
                <a:tab pos="635000" algn="l"/>
              </a:tabLst>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tabLst>
                <a:tab pos="635000" algn="l"/>
              </a:tabLst>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tabLst>
                <a:tab pos="635000" algn="l"/>
              </a:tabLst>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tabLst>
                <a:tab pos="635000" algn="l"/>
              </a:tabLst>
              <a:defRPr sz="89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en-US" altLang="en-US" sz="3771" b="1">
                <a:solidFill>
                  <a:srgbClr val="007DCC"/>
                </a:solidFill>
                <a:latin typeface="Helvetica" pitchFamily="2" charset="0"/>
              </a:rPr>
              <a:t>Public Health Implications</a:t>
            </a:r>
            <a:endParaRPr lang="en-US" altLang="en-US" sz="2057"/>
          </a:p>
          <a:p>
            <a:pPr eaLnBrk="1" hangingPunct="1">
              <a:spcBef>
                <a:spcPct val="10000"/>
              </a:spcBef>
              <a:buFontTx/>
              <a:buNone/>
            </a:pPr>
            <a:endParaRPr lang="en-US" altLang="en-US" sz="2057"/>
          </a:p>
          <a:p>
            <a:pPr eaLnBrk="1" hangingPunct="1">
              <a:spcBef>
                <a:spcPct val="10000"/>
              </a:spcBef>
              <a:buFontTx/>
              <a:buNone/>
            </a:pPr>
            <a:r>
              <a:rPr lang="en-US" altLang="en-US" sz="2057"/>
              <a:t>No evidence was found that exposure to reported sidewalks is significantly associated with daily physical activity among children with asthma in the NSCH 2023 survey data. The results did not support the hypothesized relationship and instead suggested a trend opposite to expectations, though it was not statistically significant. </a:t>
            </a:r>
          </a:p>
          <a:p>
            <a:pPr eaLnBrk="1" hangingPunct="1">
              <a:spcBef>
                <a:spcPct val="10000"/>
              </a:spcBef>
              <a:buFontTx/>
              <a:buNone/>
            </a:pPr>
            <a:endParaRPr lang="en-US" altLang="en-US" sz="2057"/>
          </a:p>
          <a:p>
            <a:pPr eaLnBrk="1" hangingPunct="1">
              <a:spcBef>
                <a:spcPct val="10000"/>
              </a:spcBef>
              <a:buFontTx/>
              <a:buNone/>
            </a:pPr>
            <a:r>
              <a:rPr lang="en-US" altLang="en-US" sz="2057"/>
              <a:t>Limitations such as reliance on parent-reported data and lack of objective measures may have influenced the findings. Future research should focus on using more precise and objective methods to assess both environmental exposure and physical activity. </a:t>
            </a:r>
          </a:p>
          <a:p>
            <a:pPr eaLnBrk="1" hangingPunct="1">
              <a:spcBef>
                <a:spcPct val="10000"/>
              </a:spcBef>
              <a:buFontTx/>
              <a:buNone/>
            </a:pPr>
            <a:r>
              <a:rPr lang="en-US" altLang="en-US" sz="2057"/>
              <a:t>	</a:t>
            </a:r>
          </a:p>
          <a:p>
            <a:pPr eaLnBrk="1" hangingPunct="1">
              <a:spcBef>
                <a:spcPct val="10000"/>
              </a:spcBef>
              <a:buFontTx/>
              <a:buNone/>
            </a:pPr>
            <a:r>
              <a:rPr lang="en-US" altLang="en-US" sz="2057"/>
              <a:t>Overall, the study highlights the need for improved measurement approaches in examining the relationship between neighborhood infrastructure and physical activity amongst children with asthma, and implications for their health outcomes such as obesity risk.</a:t>
            </a:r>
          </a:p>
        </p:txBody>
      </p:sp>
      <p:sp>
        <p:nvSpPr>
          <p:cNvPr id="15368" name="Text Box 14">
            <a:extLst>
              <a:ext uri="{FF2B5EF4-FFF2-40B4-BE49-F238E27FC236}">
                <a16:creationId xmlns:a16="http://schemas.microsoft.com/office/drawing/2014/main" id="{A7BEE287-BE43-6961-1EE9-61FF85A7C0B4}"/>
              </a:ext>
            </a:extLst>
          </p:cNvPr>
          <p:cNvSpPr txBox="1">
            <a:spLocks noChangeArrowheads="1"/>
          </p:cNvSpPr>
          <p:nvPr/>
        </p:nvSpPr>
        <p:spPr bwMode="auto">
          <a:xfrm>
            <a:off x="2059477" y="2624724"/>
            <a:ext cx="38807571" cy="1978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35131" tIns="235131" rIns="235131" bIns="235131">
            <a:spAutoFit/>
          </a:bodyPr>
          <a:lstStyle>
            <a:lvl1pPr>
              <a:spcBef>
                <a:spcPct val="20000"/>
              </a:spcBef>
              <a:buChar char="•"/>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5143" b="1">
                <a:latin typeface="Helvetica" pitchFamily="2" charset="0"/>
              </a:rPr>
              <a:t>Eileen  M. Murray</a:t>
            </a:r>
          </a:p>
          <a:p>
            <a:pPr algn="ctr" eaLnBrk="1" hangingPunct="1">
              <a:spcBef>
                <a:spcPct val="0"/>
              </a:spcBef>
              <a:buFontTx/>
              <a:buNone/>
            </a:pPr>
            <a:r>
              <a:rPr lang="en-US" altLang="en-US" sz="4628">
                <a:latin typeface="Helvetica" pitchFamily="2" charset="0"/>
              </a:rPr>
              <a:t>CUNY Graduate School of Public Health and Health Policy, New York, NY 10027</a:t>
            </a:r>
          </a:p>
        </p:txBody>
      </p:sp>
      <p:sp>
        <p:nvSpPr>
          <p:cNvPr id="15369" name="Text Box 15">
            <a:extLst>
              <a:ext uri="{FF2B5EF4-FFF2-40B4-BE49-F238E27FC236}">
                <a16:creationId xmlns:a16="http://schemas.microsoft.com/office/drawing/2014/main" id="{61B1A149-7201-BF52-684C-7CCE00A935CC}"/>
              </a:ext>
            </a:extLst>
          </p:cNvPr>
          <p:cNvSpPr txBox="1">
            <a:spLocks noChangeArrowheads="1"/>
          </p:cNvSpPr>
          <p:nvPr/>
        </p:nvSpPr>
        <p:spPr bwMode="auto">
          <a:xfrm>
            <a:off x="32706207" y="14638564"/>
            <a:ext cx="9847829" cy="10758528"/>
          </a:xfrm>
          <a:prstGeom prst="rect">
            <a:avLst/>
          </a:prstGeom>
          <a:solidFill>
            <a:schemeClr val="bg1"/>
          </a:solidFill>
          <a:ln w="12700">
            <a:solidFill>
              <a:schemeClr val="hlink"/>
            </a:solidFill>
            <a:miter lim="800000"/>
            <a:headEnd/>
            <a:tailEnd/>
          </a:ln>
        </p:spPr>
        <p:txBody>
          <a:bodyPr lIns="783771" tIns="391886" rIns="783771" bIns="783771"/>
          <a:lstStyle>
            <a:lvl1pPr marL="500063" indent="-500063">
              <a:spcBef>
                <a:spcPct val="20000"/>
              </a:spcBef>
              <a:buChar char="•"/>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en-US" altLang="en-US" sz="3771" b="1">
                <a:solidFill>
                  <a:srgbClr val="007DCC"/>
                </a:solidFill>
                <a:latin typeface="Helvetica" pitchFamily="2" charset="0"/>
              </a:rPr>
              <a:t>Literature Cited</a:t>
            </a:r>
          </a:p>
          <a:p>
            <a:pPr eaLnBrk="1" hangingPunct="1">
              <a:spcBef>
                <a:spcPct val="0"/>
              </a:spcBef>
              <a:buFontTx/>
              <a:buNone/>
            </a:pPr>
            <a:r>
              <a:rPr lang="en-US" altLang="en-US" sz="1250"/>
              <a:t>1.	</a:t>
            </a:r>
            <a:r>
              <a:rPr lang="en-US" altLang="en-US" sz="1250" err="1"/>
              <a:t>Arubuolawe</a:t>
            </a:r>
            <a:r>
              <a:rPr lang="en-US" altLang="en-US" sz="1250"/>
              <a:t> OO, Gabriel OT, </a:t>
            </a:r>
            <a:r>
              <a:rPr lang="en-US" altLang="en-US" sz="1250" err="1"/>
              <a:t>Anats</a:t>
            </a:r>
            <a:r>
              <a:rPr lang="en-US" altLang="en-US" sz="1250"/>
              <a:t> CJ, et al. Demographic and Socioeconomic Disparities in Adolescent Obesity: Insights From the National Survey of Children's Health Database. </a:t>
            </a:r>
            <a:r>
              <a:rPr lang="en-US" altLang="en-US" sz="1250" err="1"/>
              <a:t>Cureus</a:t>
            </a:r>
            <a:r>
              <a:rPr lang="en-US" altLang="en-US" sz="1250"/>
              <a:t>. Oct 2024;16(10):e72150. doi:10.7759/cureus.72150</a:t>
            </a:r>
          </a:p>
          <a:p>
            <a:pPr eaLnBrk="1" hangingPunct="1">
              <a:spcBef>
                <a:spcPct val="0"/>
              </a:spcBef>
              <a:buFontTx/>
              <a:buNone/>
            </a:pPr>
            <a:r>
              <a:rPr lang="en-US" altLang="en-US" sz="1250"/>
              <a:t>2.	Stratakis N, Garcia E, Chandran A, et al. The Role of Childhood Asthma in Obesity Development: A Nationwide US Multicohort Study. Epidemiology. Jan 1 2022;33(1):131-140. doi:10.1097/ede.0000000000001421</a:t>
            </a:r>
          </a:p>
          <a:p>
            <a:pPr eaLnBrk="1" hangingPunct="1">
              <a:spcBef>
                <a:spcPct val="0"/>
              </a:spcBef>
              <a:buFontTx/>
              <a:buNone/>
            </a:pPr>
            <a:r>
              <a:rPr lang="en-US" altLang="en-US" sz="1250"/>
              <a:t>3.	Peters U, Dixon AE, Forno E. Obesity and asthma. J Allergy Clin Immunol. Apr 2018;141(4):1169-1179. doi:10.1016/j.jaci.2018.02.004</a:t>
            </a:r>
          </a:p>
          <a:p>
            <a:pPr eaLnBrk="1" hangingPunct="1">
              <a:spcBef>
                <a:spcPct val="0"/>
              </a:spcBef>
              <a:buFontTx/>
              <a:buNone/>
            </a:pPr>
            <a:r>
              <a:rPr lang="en-US" altLang="en-US" sz="1250"/>
              <a:t>4.	</a:t>
            </a:r>
            <a:r>
              <a:rPr lang="en-US" altLang="en-US" sz="1250" err="1"/>
              <a:t>Koinis</a:t>
            </a:r>
            <a:r>
              <a:rPr lang="en-US" altLang="en-US" sz="1250"/>
              <a:t>-Mitchell D, Kopel SJ, </a:t>
            </a:r>
            <a:r>
              <a:rPr lang="en-US" altLang="en-US" sz="1250" err="1"/>
              <a:t>Dunsiger</a:t>
            </a:r>
            <a:r>
              <a:rPr lang="en-US" altLang="en-US" sz="1250"/>
              <a:t> S, et al. Asthma and Physical Activity in Urban Children. J </a:t>
            </a:r>
            <a:r>
              <a:rPr lang="en-US" altLang="en-US" sz="1250" err="1"/>
              <a:t>Pediatr</a:t>
            </a:r>
            <a:r>
              <a:rPr lang="en-US" altLang="en-US" sz="1250"/>
              <a:t> Psychol. Aug 19 2021;46(8):970-979. doi:10.1093/</a:t>
            </a:r>
            <a:r>
              <a:rPr lang="en-US" altLang="en-US" sz="1250" err="1"/>
              <a:t>jpepsy</a:t>
            </a:r>
            <a:r>
              <a:rPr lang="en-US" altLang="en-US" sz="1250"/>
              <a:t>/jsab023</a:t>
            </a:r>
          </a:p>
          <a:p>
            <a:pPr eaLnBrk="1" hangingPunct="1">
              <a:spcBef>
                <a:spcPct val="0"/>
              </a:spcBef>
              <a:buFontTx/>
              <a:buNone/>
            </a:pPr>
            <a:r>
              <a:rPr lang="en-US" altLang="en-US" sz="1250"/>
              <a:t>5.	Marios Panagiotou NGK, Nikoletta Rovina. Physical Activity: A Missing Link in Asthma Care. </a:t>
            </a:r>
            <a:r>
              <a:rPr lang="en-US" altLang="en-US" sz="1250" err="1"/>
              <a:t>Clincial</a:t>
            </a:r>
            <a:r>
              <a:rPr lang="en-US" altLang="en-US" sz="1250"/>
              <a:t> Review. Journal of Clinical Medicine March 5, 2020 2020;9(3):19. </a:t>
            </a:r>
          </a:p>
          <a:p>
            <a:pPr eaLnBrk="1" hangingPunct="1">
              <a:spcBef>
                <a:spcPct val="0"/>
              </a:spcBef>
              <a:buFontTx/>
              <a:buNone/>
            </a:pPr>
            <a:r>
              <a:rPr lang="en-US" altLang="en-US" sz="1250"/>
              <a:t>6.	Balatoni I, Kiss T, Balla G, Papp </a:t>
            </a:r>
            <a:r>
              <a:rPr lang="en-US" altLang="en-US" sz="1250" err="1"/>
              <a:t>Á</a:t>
            </a:r>
            <a:r>
              <a:rPr lang="en-US" altLang="en-US" sz="1250"/>
              <a:t>, Csernoch L. Assessment of the Physical Activity of Children with Asthma </a:t>
            </a:r>
            <a:r>
              <a:rPr lang="en-US" altLang="en-US" sz="1250" err="1"/>
              <a:t>Bronchiale</a:t>
            </a:r>
            <a:r>
              <a:rPr lang="en-US" altLang="en-US" sz="1250"/>
              <a:t>. Sports (Basel). Apr 22 2024;12(4)doi:10.3390/sports12040114</a:t>
            </a:r>
          </a:p>
          <a:p>
            <a:pPr eaLnBrk="1" hangingPunct="1">
              <a:spcBef>
                <a:spcPct val="0"/>
              </a:spcBef>
              <a:buFontTx/>
              <a:buNone/>
            </a:pPr>
            <a:r>
              <a:rPr lang="en-US" altLang="en-US" sz="1250"/>
              <a:t>7.	Lu K, Sidell M, Li X, et al. Self-Reported Physical Activity and Asthma Risk in Children. J Allergy Clin Immunol </a:t>
            </a:r>
            <a:r>
              <a:rPr lang="en-US" altLang="en-US" sz="1250" err="1"/>
              <a:t>Pract</a:t>
            </a:r>
            <a:r>
              <a:rPr lang="en-US" altLang="en-US" sz="1250"/>
              <a:t>. Jan 2022;10(1):231-239.e3. doi:10.1016/j.jaip.2021.08.040</a:t>
            </a:r>
          </a:p>
          <a:p>
            <a:pPr eaLnBrk="1" hangingPunct="1">
              <a:spcBef>
                <a:spcPct val="0"/>
              </a:spcBef>
              <a:buFontTx/>
              <a:buNone/>
            </a:pPr>
            <a:r>
              <a:rPr lang="en-US" altLang="en-US" sz="1250"/>
              <a:t>8.	González-</a:t>
            </a:r>
            <a:r>
              <a:rPr lang="en-US" altLang="en-US" sz="1250" err="1"/>
              <a:t>Devesa</a:t>
            </a:r>
            <a:r>
              <a:rPr lang="en-US" altLang="en-US" sz="1250"/>
              <a:t> D, Carballo-Afonso R, Sanchez-Lastra MA, </a:t>
            </a:r>
            <a:r>
              <a:rPr lang="en-US" altLang="en-US" sz="1250" err="1"/>
              <a:t>Ayán</a:t>
            </a:r>
            <a:r>
              <a:rPr lang="en-US" altLang="en-US" sz="1250"/>
              <a:t>-Pérez C. Barriers and facilitators to physical activity and exercise among individuals with asthma: a systematic review. Performance Enhancement &amp; Health. 2025/10/01/ 2025;13(4):100371. </a:t>
            </a:r>
            <a:r>
              <a:rPr lang="en-US" altLang="en-US" sz="1250" err="1"/>
              <a:t>doi:https</a:t>
            </a:r>
            <a:r>
              <a:rPr lang="en-US" altLang="en-US" sz="1250"/>
              <a:t>://</a:t>
            </a:r>
            <a:r>
              <a:rPr lang="en-US" altLang="en-US" sz="1250" err="1"/>
              <a:t>doi.org</a:t>
            </a:r>
            <a:r>
              <a:rPr lang="en-US" altLang="en-US" sz="1250"/>
              <a:t>/10.1016/j.peh.2025.100371</a:t>
            </a:r>
          </a:p>
          <a:p>
            <a:pPr eaLnBrk="1" hangingPunct="1">
              <a:spcBef>
                <a:spcPct val="0"/>
              </a:spcBef>
              <a:buFontTx/>
              <a:buNone/>
            </a:pPr>
            <a:r>
              <a:rPr lang="en-US" altLang="en-US" sz="1250"/>
              <a:t>9.	</a:t>
            </a:r>
            <a:r>
              <a:rPr lang="en-US" altLang="en-US" sz="1250" err="1"/>
              <a:t>Kornblit</a:t>
            </a:r>
            <a:r>
              <a:rPr lang="en-US" altLang="en-US" sz="1250"/>
              <a:t> A, Cain A, Bauman LJ, Brown NM, Reznik M. Parental Perspectives of Barriers to Physical Activity in Urban Schoolchildren With Asthma. </a:t>
            </a:r>
            <a:r>
              <a:rPr lang="en-US" altLang="en-US" sz="1250" err="1"/>
              <a:t>Acad</a:t>
            </a:r>
            <a:r>
              <a:rPr lang="en-US" altLang="en-US" sz="1250"/>
              <a:t> </a:t>
            </a:r>
            <a:r>
              <a:rPr lang="en-US" altLang="en-US" sz="1250" err="1"/>
              <a:t>Pediatr</a:t>
            </a:r>
            <a:r>
              <a:rPr lang="en-US" altLang="en-US" sz="1250"/>
              <a:t>. Apr 2018;18(3):310-316. doi:10.1016/j.acap.2017.12.011</a:t>
            </a:r>
          </a:p>
          <a:p>
            <a:pPr eaLnBrk="1" hangingPunct="1">
              <a:spcBef>
                <a:spcPct val="0"/>
              </a:spcBef>
              <a:buFontTx/>
              <a:buNone/>
            </a:pPr>
            <a:r>
              <a:rPr lang="en-US" altLang="en-US" sz="1250"/>
              <a:t>10.	Al-Shoaibi AAA, Iyra P, Raney JH, et al. Associations Between Adverse Childhood Experiences and Early Adolescent Physical Activity in the United States. </a:t>
            </a:r>
            <a:r>
              <a:rPr lang="en-US" altLang="en-US" sz="1250" err="1"/>
              <a:t>Acad</a:t>
            </a:r>
            <a:r>
              <a:rPr lang="en-US" altLang="en-US" sz="1250"/>
              <a:t> </a:t>
            </a:r>
            <a:r>
              <a:rPr lang="en-US" altLang="en-US" sz="1250" err="1"/>
              <a:t>Pediatr</a:t>
            </a:r>
            <a:r>
              <a:rPr lang="en-US" altLang="en-US" sz="1250"/>
              <a:t>. May-Jun 2024;24(4):662-668. doi:10.1016/j.acap.2023.10.004</a:t>
            </a:r>
          </a:p>
          <a:p>
            <a:pPr eaLnBrk="1" hangingPunct="1">
              <a:spcBef>
                <a:spcPct val="0"/>
              </a:spcBef>
              <a:buFontTx/>
              <a:buNone/>
            </a:pPr>
            <a:r>
              <a:rPr lang="en-US" altLang="en-US" sz="1250"/>
              <a:t>11.	Hadwen B, Pila E, Thornton J. The Associations Between Adverse Childhood Experiences, Physical and Mental Health, and Physical Activity: A Scoping Review. J Phys Act Health. Dec 1 2022;19(12):847-854. doi:10.1123/jpah.2022-0298</a:t>
            </a:r>
          </a:p>
          <a:p>
            <a:pPr eaLnBrk="1" hangingPunct="1">
              <a:spcBef>
                <a:spcPct val="0"/>
              </a:spcBef>
              <a:buFontTx/>
              <a:buNone/>
            </a:pPr>
            <a:r>
              <a:rPr lang="en-US" altLang="en-US" sz="1250"/>
              <a:t>12.	D'Agostino EM, Zhang S, Day SE, et al. The longitudinal association between asthma severity and physical fitness among new York City public school youth. Prev Med. May 2023;170:107486. doi:10.1016/j.ypmed.2023.107486</a:t>
            </a:r>
          </a:p>
          <a:p>
            <a:pPr eaLnBrk="1" hangingPunct="1">
              <a:spcBef>
                <a:spcPct val="0"/>
              </a:spcBef>
              <a:buFontTx/>
              <a:buNone/>
            </a:pPr>
            <a:r>
              <a:rPr lang="en-US" altLang="en-US" sz="1250"/>
              <a:t>13.	Acciai F, DeWeese RS, Lloyd K, et al. The relationship between changes in neighborhood physical environment and changes in physical activity among children: a prospective cohort study. Int J </a:t>
            </a:r>
            <a:r>
              <a:rPr lang="en-US" altLang="en-US" sz="1250" err="1"/>
              <a:t>Behav</a:t>
            </a:r>
            <a:r>
              <a:rPr lang="en-US" altLang="en-US" sz="1250"/>
              <a:t> </a:t>
            </a:r>
            <a:r>
              <a:rPr lang="en-US" altLang="en-US" sz="1250" err="1"/>
              <a:t>Nutr</a:t>
            </a:r>
            <a:r>
              <a:rPr lang="en-US" altLang="en-US" sz="1250"/>
              <a:t> Phys Act. Jul 7 2023;20(1):82. doi:10.1186/s12966-023-01478-2</a:t>
            </a:r>
          </a:p>
          <a:p>
            <a:pPr eaLnBrk="1" hangingPunct="1">
              <a:spcBef>
                <a:spcPct val="0"/>
              </a:spcBef>
              <a:buFontTx/>
              <a:buNone/>
            </a:pPr>
            <a:r>
              <a:rPr lang="en-US" altLang="en-US" sz="1250"/>
              <a:t>14.	Wagner BE, Zong Z, </a:t>
            </a:r>
            <a:r>
              <a:rPr lang="en-US" altLang="en-US" sz="1250" err="1"/>
              <a:t>Neshteruk</a:t>
            </a:r>
            <a:r>
              <a:rPr lang="en-US" altLang="en-US" sz="1250"/>
              <a:t> CD, D'Agostino EM. Association Between School Neighborhood Walkability and Adolescent Physical Activity. J Healthy Eat Act Living. 2025;5(2):161-170. </a:t>
            </a:r>
          </a:p>
          <a:p>
            <a:pPr eaLnBrk="1" hangingPunct="1">
              <a:spcBef>
                <a:spcPct val="0"/>
              </a:spcBef>
              <a:buFontTx/>
              <a:buNone/>
            </a:pPr>
            <a:r>
              <a:rPr lang="en-US" altLang="en-US" sz="1250"/>
              <a:t>15.	Yang S, Xiang, C, Wang, L, Wu, T., Fei, T., Xiao, Q, Zhang, G., Jia, Y. N. Walkability indices and childhood obesity: A review of epidemiologic evidence. Obesity Reviews. July 27 2020;22(Suppl 1)doi:10.1111/obr.13096</a:t>
            </a:r>
          </a:p>
          <a:p>
            <a:pPr eaLnBrk="1" hangingPunct="1">
              <a:spcBef>
                <a:spcPct val="0"/>
              </a:spcBef>
              <a:buFontTx/>
              <a:buNone/>
            </a:pPr>
            <a:r>
              <a:rPr lang="en-US" altLang="en-US" sz="1250"/>
              <a:t>16.	Wei J, Wu Y, Zheng J, Nie P, Jia P, Wang Y. Neighborhood sidewalk access and childhood obesity. </a:t>
            </a:r>
            <a:r>
              <a:rPr lang="en-US" altLang="en-US" sz="1250" err="1"/>
              <a:t>Obes</a:t>
            </a:r>
            <a:r>
              <a:rPr lang="en-US" altLang="en-US" sz="1250"/>
              <a:t> Rev. Feb 2021;22 Suppl 1(Suppl 1):e13057. doi:10.1111/obr.13057</a:t>
            </a:r>
          </a:p>
          <a:p>
            <a:pPr eaLnBrk="1" hangingPunct="1">
              <a:spcBef>
                <a:spcPct val="0"/>
              </a:spcBef>
              <a:buFontTx/>
              <a:buNone/>
            </a:pPr>
            <a:r>
              <a:rPr lang="en-US" altLang="en-US" sz="1250"/>
              <a:t>17.	Carlson JA, Sallis JF, Kerr J, et al. Built environment characteristics and parent active transportation are associated with active travel to school in youth age 12-15. Br J Sports Med. Dec 2014;48(22):1634-9. doi:10.1136/bjsports-2013-093101</a:t>
            </a:r>
          </a:p>
          <a:p>
            <a:pPr eaLnBrk="1" hangingPunct="1">
              <a:spcBef>
                <a:spcPct val="0"/>
              </a:spcBef>
              <a:buFontTx/>
              <a:buNone/>
            </a:pPr>
            <a:r>
              <a:rPr lang="en-US" altLang="en-US" sz="1250"/>
              <a:t>18.	Zhu J, Kodali H, Wyka KE, Huang TT. Perceived neighborhood environment walkability and health-related quality of life among predominantly Black and Latino adults in New York City. BMC Public Health. Jan 18 2023;23(1):127. doi:10.1186/s12889-022-14973-1</a:t>
            </a:r>
          </a:p>
          <a:p>
            <a:pPr eaLnBrk="1" hangingPunct="1">
              <a:spcBef>
                <a:spcPct val="0"/>
              </a:spcBef>
              <a:buFontTx/>
              <a:buNone/>
            </a:pPr>
            <a:r>
              <a:rPr lang="en-US" altLang="en-US" sz="1250"/>
              <a:t>19.	Rajaee M, Echeverri B, </a:t>
            </a:r>
            <a:r>
              <a:rPr lang="en-US" altLang="en-US" sz="1250" err="1"/>
              <a:t>Zuchowicz</a:t>
            </a:r>
            <a:r>
              <a:rPr lang="en-US" altLang="en-US" sz="1250"/>
              <a:t> Z, Wiltfang K, Lucarelli JF. Socioeconomic and racial disparities of sidewalk quality in a traditional rust belt city. SSM </a:t>
            </a:r>
            <a:r>
              <a:rPr lang="en-US" altLang="en-US" sz="1250" err="1"/>
              <a:t>Popul</a:t>
            </a:r>
            <a:r>
              <a:rPr lang="en-US" altLang="en-US" sz="1250"/>
              <a:t> Health. Dec 2021;16:100975. doi:10.1016/j.ssmph.2021.100975</a:t>
            </a:r>
          </a:p>
          <a:p>
            <a:pPr eaLnBrk="1" hangingPunct="1">
              <a:spcBef>
                <a:spcPct val="0"/>
              </a:spcBef>
              <a:buFontTx/>
              <a:buNone/>
            </a:pPr>
            <a:r>
              <a:rPr lang="en-US" altLang="en-US" sz="1250"/>
              <a:t>20.	</a:t>
            </a:r>
            <a:r>
              <a:rPr lang="en-US" altLang="en-US" sz="1250" err="1"/>
              <a:t>Conderino</a:t>
            </a:r>
            <a:r>
              <a:rPr lang="en-US" altLang="en-US" sz="1250"/>
              <a:t> SE, Feldman JM, </a:t>
            </a:r>
            <a:r>
              <a:rPr lang="en-US" altLang="en-US" sz="1250" err="1"/>
              <a:t>Spoer</a:t>
            </a:r>
            <a:r>
              <a:rPr lang="en-US" altLang="en-US" sz="1250"/>
              <a:t> B, </a:t>
            </a:r>
            <a:r>
              <a:rPr lang="en-US" altLang="en-US" sz="1250" err="1"/>
              <a:t>Gourevitch</a:t>
            </a:r>
            <a:r>
              <a:rPr lang="en-US" altLang="en-US" sz="1250"/>
              <a:t> MN, Thorpe LE. Social and Economic Differences in Neighborhood Walkability Across 500 U.S. Cities. Am J Prev Med. Sep 2021;61(3):394-401. doi:10.1016/j.amepre.2021.03.014</a:t>
            </a:r>
          </a:p>
          <a:p>
            <a:pPr eaLnBrk="1" hangingPunct="1">
              <a:spcBef>
                <a:spcPct val="0"/>
              </a:spcBef>
              <a:buFontTx/>
              <a:buNone/>
            </a:pPr>
            <a:r>
              <a:rPr lang="en-US" altLang="en-US" sz="1250"/>
              <a:t>21.	Initiative </a:t>
            </a:r>
            <a:r>
              <a:rPr lang="en-US" altLang="en-US" sz="1250" err="1"/>
              <a:t>CaAHM</a:t>
            </a:r>
            <a:r>
              <a:rPr lang="en-US" altLang="en-US" sz="1250"/>
              <a:t>. Data from: 2023 National Survey of Children’s Health (NSCH). 2023. United States Census Bureau. </a:t>
            </a:r>
          </a:p>
          <a:p>
            <a:pPr eaLnBrk="1" hangingPunct="1">
              <a:spcBef>
                <a:spcPct val="0"/>
              </a:spcBef>
              <a:buFontTx/>
              <a:buNone/>
            </a:pPr>
            <a:r>
              <a:rPr lang="en-US" altLang="en-US" sz="1250"/>
              <a:t>22.	Simons E, Dell S, </a:t>
            </a:r>
            <a:r>
              <a:rPr lang="en-US" altLang="en-US" sz="1250" err="1"/>
              <a:t>Moineddin</a:t>
            </a:r>
            <a:r>
              <a:rPr lang="en-US" altLang="en-US" sz="1250"/>
              <a:t> R, To T. Longitudinal associations between </a:t>
            </a:r>
            <a:r>
              <a:rPr lang="en-US" altLang="en-US" sz="1250" err="1"/>
              <a:t>neighbourhood</a:t>
            </a:r>
            <a:r>
              <a:rPr lang="en-US" altLang="en-US" sz="1250"/>
              <a:t> walkability and incident childhood asthma. Allergy Asthma Clin Immunol. 2014;10(Suppl 1):A8. doi:10.1186/1710-1492-10-s1-a8</a:t>
            </a:r>
          </a:p>
          <a:p>
            <a:pPr eaLnBrk="1" hangingPunct="1">
              <a:spcBef>
                <a:spcPct val="0"/>
              </a:spcBef>
              <a:buFontTx/>
              <a:buNone/>
            </a:pPr>
            <a:r>
              <a:rPr lang="en-US" altLang="en-US" sz="1250"/>
              <a:t>23.	Simons E, Dell SD, </a:t>
            </a:r>
            <a:r>
              <a:rPr lang="en-US" altLang="en-US" sz="1250" err="1"/>
              <a:t>Moineddin</a:t>
            </a:r>
            <a:r>
              <a:rPr lang="en-US" altLang="en-US" sz="1250"/>
              <a:t> R, To T. Associations between Neighborhood Walkability and Incident and Ongoing Asthma in Children. Ann Am </a:t>
            </a:r>
            <a:r>
              <a:rPr lang="en-US" altLang="en-US" sz="1250" err="1"/>
              <a:t>Thorac</a:t>
            </a:r>
            <a:r>
              <a:rPr lang="en-US" altLang="en-US" sz="1250"/>
              <a:t> Soc. Jun 2018;15(6):728-734. doi:10.1513/AnnalsATS.201708-693OC</a:t>
            </a:r>
          </a:p>
          <a:p>
            <a:pPr eaLnBrk="1" hangingPunct="1">
              <a:spcBef>
                <a:spcPct val="0"/>
              </a:spcBef>
              <a:buFontTx/>
              <a:buNone/>
            </a:pPr>
            <a:r>
              <a:rPr lang="en-US" altLang="en-US" sz="1250"/>
              <a:t>24.	An R, Yang Y, Li K. Residential Neighborhood Amenities and Physical Activity Among U.S. Children with Special Health Care Needs. Maternal &amp; Child Health Journal. 2017;21(5):1026-1036. doi:10.1007/s10995-016-2198-3</a:t>
            </a:r>
          </a:p>
          <a:p>
            <a:pPr eaLnBrk="1" hangingPunct="1">
              <a:spcBef>
                <a:spcPct val="0"/>
              </a:spcBef>
              <a:buFontTx/>
              <a:buNone/>
            </a:pPr>
            <a:endParaRPr lang="en-US" altLang="en-US" sz="1800"/>
          </a:p>
          <a:p>
            <a:pPr eaLnBrk="1" hangingPunct="1">
              <a:spcBef>
                <a:spcPct val="0"/>
              </a:spcBef>
              <a:buFontTx/>
              <a:buNone/>
            </a:pPr>
            <a:endParaRPr lang="en-US" altLang="en-US" sz="1714"/>
          </a:p>
          <a:p>
            <a:pPr eaLnBrk="1" hangingPunct="1">
              <a:spcBef>
                <a:spcPct val="10000"/>
              </a:spcBef>
              <a:buFontTx/>
              <a:buNone/>
            </a:pPr>
            <a:endParaRPr lang="en-US" altLang="en-US" sz="1714"/>
          </a:p>
        </p:txBody>
      </p:sp>
      <p:sp>
        <p:nvSpPr>
          <p:cNvPr id="15376" name="Text Box 70">
            <a:extLst>
              <a:ext uri="{FF2B5EF4-FFF2-40B4-BE49-F238E27FC236}">
                <a16:creationId xmlns:a16="http://schemas.microsoft.com/office/drawing/2014/main" id="{349CFC21-73FE-9425-640D-10C289567D42}"/>
              </a:ext>
            </a:extLst>
          </p:cNvPr>
          <p:cNvSpPr txBox="1">
            <a:spLocks noChangeArrowheads="1"/>
          </p:cNvSpPr>
          <p:nvPr/>
        </p:nvSpPr>
        <p:spPr bwMode="auto">
          <a:xfrm>
            <a:off x="32649499" y="27624063"/>
            <a:ext cx="9957543" cy="1958926"/>
          </a:xfrm>
          <a:prstGeom prst="rect">
            <a:avLst/>
          </a:prstGeom>
          <a:solidFill>
            <a:schemeClr val="bg1"/>
          </a:solidFill>
          <a:ln w="12700">
            <a:solidFill>
              <a:schemeClr val="hlink"/>
            </a:solidFill>
            <a:miter lim="800000"/>
            <a:headEnd/>
            <a:tailEnd/>
          </a:ln>
        </p:spPr>
        <p:txBody>
          <a:bodyPr lIns="783771" tIns="391886" rIns="783771" bIns="783771"/>
          <a:lstStyle>
            <a:lvl1pPr>
              <a:spcBef>
                <a:spcPct val="20000"/>
              </a:spcBef>
              <a:buChar char="•"/>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0"/>
              </a:spcBef>
              <a:buFontTx/>
              <a:buNone/>
            </a:pPr>
            <a:r>
              <a:rPr lang="en-US" altLang="en-US" sz="3771" b="1">
                <a:solidFill>
                  <a:srgbClr val="007DCC"/>
                </a:solidFill>
                <a:latin typeface="Helvetica" pitchFamily="2" charset="0"/>
              </a:rPr>
              <a:t>For further information</a:t>
            </a:r>
          </a:p>
          <a:p>
            <a:pPr eaLnBrk="1" hangingPunct="1">
              <a:spcBef>
                <a:spcPct val="10000"/>
              </a:spcBef>
              <a:buFontTx/>
              <a:buNone/>
            </a:pPr>
            <a:r>
              <a:rPr lang="en-US" altLang="en-US" sz="1714"/>
              <a:t>Please contact </a:t>
            </a:r>
            <a:r>
              <a:rPr lang="en-US" altLang="en-US" sz="1714" i="1"/>
              <a:t>eileen.murray46@sphmail.cuny.edu</a:t>
            </a:r>
            <a:br>
              <a:rPr lang="en-US" altLang="en-US" sz="1714"/>
            </a:br>
            <a:br>
              <a:rPr lang="en-US" altLang="en-US" sz="1714"/>
            </a:br>
            <a:endParaRPr lang="en-US" altLang="en-US" sz="1714"/>
          </a:p>
        </p:txBody>
      </p:sp>
      <p:sp>
        <p:nvSpPr>
          <p:cNvPr id="15379" name="Text Box 114">
            <a:extLst>
              <a:ext uri="{FF2B5EF4-FFF2-40B4-BE49-F238E27FC236}">
                <a16:creationId xmlns:a16="http://schemas.microsoft.com/office/drawing/2014/main" id="{4A1DF73C-F7B0-BF76-C88A-F002B7FAA0E4}"/>
              </a:ext>
            </a:extLst>
          </p:cNvPr>
          <p:cNvSpPr txBox="1">
            <a:spLocks noChangeArrowheads="1"/>
          </p:cNvSpPr>
          <p:nvPr/>
        </p:nvSpPr>
        <p:spPr bwMode="auto">
          <a:xfrm>
            <a:off x="23493752" y="6034922"/>
            <a:ext cx="8613663" cy="13134120"/>
          </a:xfrm>
          <a:prstGeom prst="rect">
            <a:avLst/>
          </a:prstGeom>
          <a:solidFill>
            <a:schemeClr val="bg1"/>
          </a:solidFill>
          <a:ln w="12700">
            <a:solidFill>
              <a:schemeClr val="hlink"/>
            </a:solidFill>
            <a:miter lim="800000"/>
            <a:headEnd/>
            <a:tailEnd/>
          </a:ln>
        </p:spPr>
        <p:txBody>
          <a:bodyPr lIns="783771" tIns="783771" rIns="783771" bIns="783771"/>
          <a:lstStyle>
            <a:lvl1pPr>
              <a:spcBef>
                <a:spcPct val="20000"/>
              </a:spcBef>
              <a:buChar char="•"/>
              <a:tabLst>
                <a:tab pos="500063" algn="l"/>
              </a:tabLst>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tabLst>
                <a:tab pos="500063" algn="l"/>
              </a:tabLst>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tabLst>
                <a:tab pos="500063" algn="l"/>
              </a:tabLst>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tabLst>
                <a:tab pos="500063" algn="l"/>
              </a:tabLst>
              <a:defRPr sz="89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10000"/>
              </a:spcBef>
              <a:buFontTx/>
              <a:buNone/>
            </a:pPr>
            <a:endParaRPr lang="en-US" altLang="en-US" sz="2228"/>
          </a:p>
          <a:p>
            <a:pPr algn="just" eaLnBrk="1" hangingPunct="1">
              <a:spcBef>
                <a:spcPct val="10000"/>
              </a:spcBef>
              <a:buFontTx/>
              <a:buNone/>
            </a:pPr>
            <a:r>
              <a:rPr lang="en-US" altLang="en-US" sz="2228"/>
              <a:t>	</a:t>
            </a:r>
          </a:p>
        </p:txBody>
      </p:sp>
      <p:sp>
        <p:nvSpPr>
          <p:cNvPr id="15403" name="Rectangle 180">
            <a:extLst>
              <a:ext uri="{FF2B5EF4-FFF2-40B4-BE49-F238E27FC236}">
                <a16:creationId xmlns:a16="http://schemas.microsoft.com/office/drawing/2014/main" id="{A632D0F0-2B15-55F3-DF4F-EED9897973EB}"/>
              </a:ext>
            </a:extLst>
          </p:cNvPr>
          <p:cNvSpPr>
            <a:spLocks noChangeArrowheads="1"/>
          </p:cNvSpPr>
          <p:nvPr/>
        </p:nvSpPr>
        <p:spPr bwMode="auto">
          <a:xfrm>
            <a:off x="481954" y="1192997"/>
            <a:ext cx="43155892" cy="220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9pPr>
          </a:lstStyle>
          <a:p>
            <a:pPr algn="ctr" eaLnBrk="1" hangingPunct="1">
              <a:spcBef>
                <a:spcPct val="0"/>
              </a:spcBef>
              <a:buFontTx/>
              <a:buNone/>
            </a:pPr>
            <a:r>
              <a:rPr lang="en-US" altLang="en-US" sz="6857" b="1" dirty="0">
                <a:solidFill>
                  <a:srgbClr val="0070C0"/>
                </a:solidFill>
                <a:latin typeface="Helvetica" pitchFamily="2" charset="0"/>
              </a:rPr>
              <a:t>Sidewalk Access and Daily Physical Activity in Children With Asthma: A Cross-Sectional Analysis</a:t>
            </a:r>
          </a:p>
          <a:p>
            <a:pPr algn="ctr" eaLnBrk="1" hangingPunct="1">
              <a:spcBef>
                <a:spcPct val="0"/>
              </a:spcBef>
              <a:buFontTx/>
              <a:buNone/>
            </a:pPr>
            <a:endParaRPr lang="en-US" altLang="en-US" sz="6857" b="1" dirty="0">
              <a:solidFill>
                <a:srgbClr val="0070C0"/>
              </a:solidFill>
              <a:latin typeface="Helvetica" pitchFamily="2" charset="0"/>
            </a:endParaRPr>
          </a:p>
        </p:txBody>
      </p:sp>
      <p:sp>
        <p:nvSpPr>
          <p:cNvPr id="15405" name="Text Box 15">
            <a:extLst>
              <a:ext uri="{FF2B5EF4-FFF2-40B4-BE49-F238E27FC236}">
                <a16:creationId xmlns:a16="http://schemas.microsoft.com/office/drawing/2014/main" id="{06283ED8-1E88-D399-FB52-5A168697A7CF}"/>
              </a:ext>
            </a:extLst>
          </p:cNvPr>
          <p:cNvSpPr txBox="1">
            <a:spLocks noChangeArrowheads="1"/>
          </p:cNvSpPr>
          <p:nvPr/>
        </p:nvSpPr>
        <p:spPr bwMode="auto">
          <a:xfrm>
            <a:off x="1302543" y="16747520"/>
            <a:ext cx="10476495" cy="1889654"/>
          </a:xfrm>
          <a:prstGeom prst="rect">
            <a:avLst/>
          </a:prstGeom>
          <a:solidFill>
            <a:schemeClr val="bg1"/>
          </a:solidFill>
          <a:ln w="12700">
            <a:solidFill>
              <a:schemeClr val="hlink"/>
            </a:solidFill>
            <a:miter lim="800000"/>
            <a:headEnd/>
            <a:tailEnd/>
          </a:ln>
        </p:spPr>
        <p:txBody>
          <a:bodyPr lIns="783771" tIns="391886" rIns="783771" bIns="783771"/>
          <a:lstStyle>
            <a:lvl1pPr marL="500063" indent="-500063">
              <a:spcBef>
                <a:spcPct val="20000"/>
              </a:spcBef>
              <a:buChar char="•"/>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defRPr sz="89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50000"/>
              </a:spcBef>
              <a:buFontTx/>
              <a:buNone/>
            </a:pPr>
            <a:r>
              <a:rPr lang="en-US" altLang="en-US" sz="3771" b="1">
                <a:solidFill>
                  <a:srgbClr val="007DCC"/>
                </a:solidFill>
                <a:latin typeface="Helvetica" pitchFamily="2" charset="0"/>
              </a:rPr>
              <a:t>Objective</a:t>
            </a:r>
          </a:p>
          <a:p>
            <a:pPr eaLnBrk="1" hangingPunct="1">
              <a:spcBef>
                <a:spcPct val="10000"/>
              </a:spcBef>
              <a:buFontTx/>
              <a:buNone/>
            </a:pPr>
            <a:r>
              <a:rPr lang="en-US" altLang="en-US" sz="2057"/>
              <a:t>To assess the association between self-reported neighborhood sidewalks and daily physical activity among children with asthma. </a:t>
            </a:r>
          </a:p>
        </p:txBody>
      </p:sp>
      <p:sp>
        <p:nvSpPr>
          <p:cNvPr id="15407" name="Text Box 11">
            <a:extLst>
              <a:ext uri="{FF2B5EF4-FFF2-40B4-BE49-F238E27FC236}">
                <a16:creationId xmlns:a16="http://schemas.microsoft.com/office/drawing/2014/main" id="{8DBA60C2-31C1-5462-9E61-C7D28C5E604A}"/>
              </a:ext>
            </a:extLst>
          </p:cNvPr>
          <p:cNvSpPr txBox="1">
            <a:spLocks noChangeArrowheads="1"/>
          </p:cNvSpPr>
          <p:nvPr/>
        </p:nvSpPr>
        <p:spPr bwMode="auto">
          <a:xfrm>
            <a:off x="23501057" y="19405600"/>
            <a:ext cx="8606358" cy="10229606"/>
          </a:xfrm>
          <a:prstGeom prst="rect">
            <a:avLst/>
          </a:prstGeom>
          <a:solidFill>
            <a:schemeClr val="bg1"/>
          </a:solidFill>
          <a:ln w="12700">
            <a:solidFill>
              <a:schemeClr val="hlink"/>
            </a:solidFill>
            <a:miter lim="800000"/>
            <a:headEnd/>
            <a:tailEnd/>
          </a:ln>
        </p:spPr>
        <p:txBody>
          <a:bodyPr lIns="783771" tIns="391886" rIns="783771" bIns="783771"/>
          <a:lstStyle>
            <a:lvl1pPr>
              <a:spcBef>
                <a:spcPct val="20000"/>
              </a:spcBef>
              <a:buChar char="•"/>
              <a:tabLst>
                <a:tab pos="508000" algn="l"/>
              </a:tabLst>
              <a:defRPr sz="14300">
                <a:solidFill>
                  <a:schemeClr val="tx1"/>
                </a:solidFill>
                <a:latin typeface="Times New Roman" panose="02020603050405020304" pitchFamily="18" charset="0"/>
                <a:ea typeface="ＭＳ Ｐゴシック" panose="020B0600070205080204" pitchFamily="34" charset="-128"/>
              </a:defRPr>
            </a:lvl1pPr>
            <a:lvl2pPr marL="37931725" indent="-37474525">
              <a:spcBef>
                <a:spcPct val="20000"/>
              </a:spcBef>
              <a:buChar char="–"/>
              <a:tabLst>
                <a:tab pos="508000" algn="l"/>
              </a:tabLst>
              <a:defRPr sz="12500">
                <a:solidFill>
                  <a:schemeClr val="tx1"/>
                </a:solidFill>
                <a:latin typeface="Times New Roman" panose="02020603050405020304" pitchFamily="18" charset="0"/>
                <a:ea typeface="ＭＳ Ｐゴシック" panose="020B0600070205080204" pitchFamily="34" charset="-128"/>
              </a:defRPr>
            </a:lvl2pPr>
            <a:lvl3pPr marL="5094288" indent="-1019175">
              <a:spcBef>
                <a:spcPct val="20000"/>
              </a:spcBef>
              <a:buChar char="•"/>
              <a:tabLst>
                <a:tab pos="508000" algn="l"/>
              </a:tabLst>
              <a:defRPr sz="10700">
                <a:solidFill>
                  <a:schemeClr val="tx1"/>
                </a:solidFill>
                <a:latin typeface="Times New Roman" panose="02020603050405020304" pitchFamily="18" charset="0"/>
                <a:ea typeface="ＭＳ Ｐゴシック" panose="020B0600070205080204" pitchFamily="34" charset="-128"/>
              </a:defRPr>
            </a:lvl3pPr>
            <a:lvl4pPr marL="7132638" indent="-1019175">
              <a:spcBef>
                <a:spcPct val="20000"/>
              </a:spcBef>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4pPr>
            <a:lvl5pPr marL="9169400" indent="-1017588">
              <a:spcBef>
                <a:spcPct val="20000"/>
              </a:spcBef>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5pPr>
            <a:lvl6pPr marL="96266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6pPr>
            <a:lvl7pPr marL="100838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7pPr>
            <a:lvl8pPr marL="105410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8pPr>
            <a:lvl9pPr marL="10998200" indent="-1017588" eaLnBrk="0" fontAlgn="base" hangingPunct="0">
              <a:spcBef>
                <a:spcPct val="20000"/>
              </a:spcBef>
              <a:spcAft>
                <a:spcPct val="0"/>
              </a:spcAft>
              <a:buChar char="»"/>
              <a:tabLst>
                <a:tab pos="508000" algn="l"/>
              </a:tabLst>
              <a:defRPr sz="8900">
                <a:solidFill>
                  <a:schemeClr val="tx1"/>
                </a:solidFill>
                <a:latin typeface="Times New Roman" panose="02020603050405020304" pitchFamily="18" charset="0"/>
                <a:ea typeface="ＭＳ Ｐゴシック" panose="020B0600070205080204" pitchFamily="34" charset="-128"/>
              </a:defRPr>
            </a:lvl9pPr>
          </a:lstStyle>
          <a:p>
            <a:pPr algn="just" eaLnBrk="1" hangingPunct="1">
              <a:spcBef>
                <a:spcPct val="50000"/>
              </a:spcBef>
              <a:buFontTx/>
              <a:buNone/>
            </a:pPr>
            <a:r>
              <a:rPr lang="en-US" altLang="en-US" sz="3771" b="1">
                <a:solidFill>
                  <a:srgbClr val="007DCC"/>
                </a:solidFill>
                <a:latin typeface="Helvetica" pitchFamily="2" charset="0"/>
              </a:rPr>
              <a:t>Discussion</a:t>
            </a:r>
            <a:endParaRPr lang="en-US" altLang="en-US" sz="3771">
              <a:solidFill>
                <a:srgbClr val="007DCC"/>
              </a:solidFill>
              <a:latin typeface="Helvetica" pitchFamily="2" charset="0"/>
            </a:endParaRPr>
          </a:p>
          <a:p>
            <a:pPr eaLnBrk="1" hangingPunct="1">
              <a:spcBef>
                <a:spcPct val="10000"/>
              </a:spcBef>
              <a:buFontTx/>
              <a:buNone/>
            </a:pPr>
            <a:endParaRPr lang="en-US" altLang="en-US" sz="2057"/>
          </a:p>
          <a:p>
            <a:pPr eaLnBrk="1" hangingPunct="1">
              <a:spcBef>
                <a:spcPct val="10000"/>
              </a:spcBef>
              <a:buFontTx/>
              <a:buNone/>
            </a:pPr>
            <a:r>
              <a:rPr lang="en-US" altLang="en-US" sz="2057"/>
              <a:t>Sidewalk presence was not associated with daily physical activity. However, direction of association was unexpected as it was a slightly lower odds of reported daily physical activity amongst children with asthma who reported sidewalks.  </a:t>
            </a:r>
          </a:p>
          <a:p>
            <a:pPr eaLnBrk="1" hangingPunct="1">
              <a:spcBef>
                <a:spcPct val="10000"/>
              </a:spcBef>
              <a:buFontTx/>
              <a:buNone/>
            </a:pPr>
            <a:endParaRPr lang="en-US" altLang="en-US" sz="2057"/>
          </a:p>
          <a:p>
            <a:pPr eaLnBrk="1" hangingPunct="1">
              <a:spcBef>
                <a:spcPct val="10000"/>
              </a:spcBef>
              <a:buFontTx/>
              <a:buNone/>
            </a:pPr>
            <a:r>
              <a:rPr lang="en-US" altLang="en-US" sz="2057"/>
              <a:t>The results may be interpreted as sidewalks alone may be insufficient to promote physical activity. Rather, broader neighborhood factors such as safety, quality, and infrastructure most likely play a larger role. Prior research further affirms this such as studies that have utilized walkability indices which show positive associations with physical activity and asthma outcomes. </a:t>
            </a:r>
            <a:r>
              <a:rPr lang="en-US" altLang="en-US" sz="2057" baseline="30000"/>
              <a:t>4,12-15,22,23 </a:t>
            </a:r>
            <a:r>
              <a:rPr lang="en-US" altLang="en-US" sz="2057"/>
              <a:t>Furthermore, these measures like walkability indices included multiple features like density, connectivity, and access, not sidewalks alone. </a:t>
            </a:r>
            <a:r>
              <a:rPr lang="en-US" altLang="en-US" sz="2057" baseline="30000"/>
              <a:t>4,12-15,22,23 </a:t>
            </a:r>
            <a:r>
              <a:rPr lang="en-US" altLang="en-US" sz="2057"/>
              <a:t>Of note, some survey-based studies report similar null, or inverse findings.</a:t>
            </a:r>
            <a:r>
              <a:rPr lang="en-US" altLang="en-US" sz="2057" baseline="30000"/>
              <a:t>24</a:t>
            </a:r>
          </a:p>
          <a:p>
            <a:pPr eaLnBrk="1" hangingPunct="1">
              <a:spcBef>
                <a:spcPct val="10000"/>
              </a:spcBef>
              <a:buFontTx/>
              <a:buNone/>
            </a:pPr>
            <a:endParaRPr lang="en-US" altLang="en-US" sz="2057"/>
          </a:p>
          <a:p>
            <a:pPr eaLnBrk="1" hangingPunct="1">
              <a:spcBef>
                <a:spcPct val="10000"/>
              </a:spcBef>
              <a:buFontTx/>
              <a:buNone/>
            </a:pPr>
            <a:r>
              <a:rPr lang="en-US" altLang="en-US" sz="2743" b="1">
                <a:solidFill>
                  <a:srgbClr val="007DCC"/>
                </a:solidFill>
                <a:latin typeface="Helvetica" pitchFamily="2" charset="0"/>
              </a:rPr>
              <a:t>Strengths </a:t>
            </a:r>
          </a:p>
          <a:p>
            <a:pPr marL="293900" indent="-293900" eaLnBrk="1" hangingPunct="1">
              <a:spcBef>
                <a:spcPct val="10000"/>
              </a:spcBef>
            </a:pPr>
            <a:r>
              <a:rPr lang="en-US" altLang="en-US" sz="2057"/>
              <a:t>Nationally representative sample (NSCH)</a:t>
            </a:r>
          </a:p>
          <a:p>
            <a:pPr marL="293900" indent="-293900" eaLnBrk="1" hangingPunct="1">
              <a:spcBef>
                <a:spcPct val="10000"/>
              </a:spcBef>
            </a:pPr>
            <a:r>
              <a:rPr lang="en-US" altLang="en-US" sz="2057"/>
              <a:t>Focus on children with asthma</a:t>
            </a:r>
          </a:p>
          <a:p>
            <a:pPr marL="293900" indent="-293900" eaLnBrk="1" hangingPunct="1">
              <a:spcBef>
                <a:spcPct val="10000"/>
              </a:spcBef>
            </a:pPr>
            <a:r>
              <a:rPr lang="en-US" altLang="en-US" sz="2057"/>
              <a:t>Adjustment for demographic, SES, and psychosocial factors</a:t>
            </a:r>
            <a:endParaRPr lang="en-US" altLang="en-US" sz="2057">
              <a:solidFill>
                <a:srgbClr val="007DCC"/>
              </a:solidFill>
            </a:endParaRPr>
          </a:p>
          <a:p>
            <a:pPr eaLnBrk="1" hangingPunct="1">
              <a:spcBef>
                <a:spcPct val="10000"/>
              </a:spcBef>
              <a:buFontTx/>
              <a:buNone/>
            </a:pPr>
            <a:r>
              <a:rPr lang="en-US" altLang="en-US" sz="2743" b="1">
                <a:solidFill>
                  <a:srgbClr val="007DCC"/>
                </a:solidFill>
                <a:latin typeface="Helvetica" pitchFamily="2" charset="0"/>
              </a:rPr>
              <a:t>Limitations</a:t>
            </a:r>
          </a:p>
          <a:p>
            <a:pPr marL="293900" indent="-293900" eaLnBrk="1" hangingPunct="1">
              <a:spcBef>
                <a:spcPct val="10000"/>
              </a:spcBef>
            </a:pPr>
            <a:r>
              <a:rPr lang="en-US" altLang="en-US" sz="2057">
                <a:latin typeface="+mj-lt"/>
              </a:rPr>
              <a:t>Parent-reported data (recall/social desirability bias)</a:t>
            </a:r>
          </a:p>
          <a:p>
            <a:pPr marL="293900" indent="-293900" eaLnBrk="1" hangingPunct="1">
              <a:spcBef>
                <a:spcPct val="10000"/>
              </a:spcBef>
            </a:pPr>
            <a:r>
              <a:rPr lang="en-US" altLang="en-US" sz="2057">
                <a:latin typeface="+mj-lt"/>
              </a:rPr>
              <a:t>No objective neighborhood or physical activity measures</a:t>
            </a:r>
          </a:p>
          <a:p>
            <a:pPr marL="293900" indent="-293900" eaLnBrk="1" hangingPunct="1">
              <a:spcBef>
                <a:spcPct val="10000"/>
              </a:spcBef>
            </a:pPr>
            <a:r>
              <a:rPr lang="en-US" altLang="en-US" sz="2057">
                <a:latin typeface="+mj-lt"/>
              </a:rPr>
              <a:t>Cross-sectional design</a:t>
            </a:r>
          </a:p>
        </p:txBody>
      </p:sp>
      <p:sp>
        <p:nvSpPr>
          <p:cNvPr id="15408" name="Line 9">
            <a:extLst>
              <a:ext uri="{FF2B5EF4-FFF2-40B4-BE49-F238E27FC236}">
                <a16:creationId xmlns:a16="http://schemas.microsoft.com/office/drawing/2014/main" id="{77DB5482-4C9E-2338-5CD2-750477B1EF16}"/>
              </a:ext>
            </a:extLst>
          </p:cNvPr>
          <p:cNvSpPr>
            <a:spLocks noChangeShapeType="1"/>
          </p:cNvSpPr>
          <p:nvPr/>
        </p:nvSpPr>
        <p:spPr bwMode="auto">
          <a:xfrm>
            <a:off x="957943" y="4827507"/>
            <a:ext cx="42203914" cy="4082"/>
          </a:xfrm>
          <a:prstGeom prst="line">
            <a:avLst/>
          </a:prstGeom>
          <a:noFill/>
          <a:ln w="127000">
            <a:solidFill>
              <a:schemeClr val="tx1"/>
            </a:solidFill>
            <a:round/>
            <a:headEnd/>
            <a:tailEnd/>
          </a:ln>
          <a:extLst>
            <a:ext uri="{909E8E84-426E-40DD-AFC4-6F175D3DCCD1}">
              <a14:hiddenFill xmlns:a14="http://schemas.microsoft.com/office/drawing/2010/main">
                <a:noFill/>
              </a14:hiddenFill>
            </a:ext>
          </a:extLst>
        </p:spPr>
        <p:txBody>
          <a:bodyPr lIns="96404" tIns="48202" rIns="96404" bIns="48202"/>
          <a:lstStyle/>
          <a:p>
            <a:endParaRPr lang="en-US" sz="2743"/>
          </a:p>
        </p:txBody>
      </p:sp>
      <p:pic>
        <p:nvPicPr>
          <p:cNvPr id="15409" name="Picture 1">
            <a:extLst>
              <a:ext uri="{FF2B5EF4-FFF2-40B4-BE49-F238E27FC236}">
                <a16:creationId xmlns:a16="http://schemas.microsoft.com/office/drawing/2014/main" id="{B62786A0-EBDA-BA9C-1376-B1B8B7162F3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57943" y="30000310"/>
            <a:ext cx="10146848" cy="167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10" name="Picture 4">
            <a:extLst>
              <a:ext uri="{FF2B5EF4-FFF2-40B4-BE49-F238E27FC236}">
                <a16:creationId xmlns:a16="http://schemas.microsoft.com/office/drawing/2014/main" id="{ABAB2CAA-7F0C-EA55-D9C3-B3B3E838868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229464" y="30274553"/>
            <a:ext cx="3275168" cy="140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A table with numbers and text&#10;&#10;AI-generated content may be incorrect.">
            <a:extLst>
              <a:ext uri="{FF2B5EF4-FFF2-40B4-BE49-F238E27FC236}">
                <a16:creationId xmlns:a16="http://schemas.microsoft.com/office/drawing/2014/main" id="{52FE08E4-544C-A9FF-1D73-A056BED9CF79}"/>
              </a:ext>
            </a:extLst>
          </p:cNvPr>
          <p:cNvPicPr>
            <a:picLocks noChangeAspect="1"/>
          </p:cNvPicPr>
          <p:nvPr/>
        </p:nvPicPr>
        <p:blipFill>
          <a:blip r:embed="rId6">
            <a:extLst>
              <a:ext uri="{BEBA8EAE-BF5A-486C-A8C5-ECC9F3942E4B}">
                <a14:imgProps xmlns:a14="http://schemas.microsoft.com/office/drawing/2010/main">
                  <a14:imgLayer r:embed="rId7">
                    <a14:imgEffect>
                      <a14:sharpenSoften amount="25000"/>
                    </a14:imgEffect>
                  </a14:imgLayer>
                </a14:imgProps>
              </a:ext>
            </a:extLst>
          </a:blip>
          <a:stretch>
            <a:fillRect/>
          </a:stretch>
        </p:blipFill>
        <p:spPr>
          <a:xfrm>
            <a:off x="12878210" y="23511601"/>
            <a:ext cx="9497984" cy="4839417"/>
          </a:xfrm>
          <a:prstGeom prst="rect">
            <a:avLst/>
          </a:prstGeom>
        </p:spPr>
      </p:pic>
      <p:pic>
        <p:nvPicPr>
          <p:cNvPr id="4" name="Picture 3">
            <a:extLst>
              <a:ext uri="{FF2B5EF4-FFF2-40B4-BE49-F238E27FC236}">
                <a16:creationId xmlns:a16="http://schemas.microsoft.com/office/drawing/2014/main" id="{6F81E073-352B-6C78-F1A1-AB03DD8C27FE}"/>
              </a:ext>
            </a:extLst>
          </p:cNvPr>
          <p:cNvPicPr>
            <a:picLocks noChangeAspect="1"/>
          </p:cNvPicPr>
          <p:nvPr/>
        </p:nvPicPr>
        <p:blipFill>
          <a:blip r:embed="rId8">
            <a:extLst>
              <a:ext uri="{BEBA8EAE-BF5A-486C-A8C5-ECC9F3942E4B}">
                <a14:imgProps xmlns:a14="http://schemas.microsoft.com/office/drawing/2010/main">
                  <a14:imgLayer r:embed="rId9">
                    <a14:imgEffect>
                      <a14:sharpenSoften amount="25000"/>
                    </a14:imgEffect>
                  </a14:imgLayer>
                </a14:imgProps>
              </a:ext>
            </a:extLst>
          </a:blip>
          <a:stretch>
            <a:fillRect/>
          </a:stretch>
        </p:blipFill>
        <p:spPr>
          <a:xfrm>
            <a:off x="12617174" y="11765677"/>
            <a:ext cx="9497984" cy="10864649"/>
          </a:xfrm>
          <a:prstGeom prst="rect">
            <a:avLst/>
          </a:prstGeom>
        </p:spPr>
      </p:pic>
      <p:pic>
        <p:nvPicPr>
          <p:cNvPr id="12" name="Picture 11" descr="A table of analysis with numbers and text&#10;&#10;AI-generated content may be incorrect.">
            <a:extLst>
              <a:ext uri="{FF2B5EF4-FFF2-40B4-BE49-F238E27FC236}">
                <a16:creationId xmlns:a16="http://schemas.microsoft.com/office/drawing/2014/main" id="{62AF86DB-02C6-AB10-A450-E9B08F9A8A07}"/>
              </a:ext>
            </a:extLst>
          </p:cNvPr>
          <p:cNvPicPr>
            <a:picLocks noChangeAspect="1"/>
          </p:cNvPicPr>
          <p:nvPr/>
        </p:nvPicPr>
        <p:blipFill>
          <a:blip r:embed="rId10">
            <a:extLst>
              <a:ext uri="{BEBA8EAE-BF5A-486C-A8C5-ECC9F3942E4B}">
                <a14:imgProps xmlns:a14="http://schemas.microsoft.com/office/drawing/2010/main">
                  <a14:imgLayer r:embed="rId11">
                    <a14:imgEffect>
                      <a14:sharpenSoften amount="25000"/>
                    </a14:imgEffect>
                  </a14:imgLayer>
                </a14:imgProps>
              </a:ext>
            </a:extLst>
          </a:blip>
          <a:stretch>
            <a:fillRect/>
          </a:stretch>
        </p:blipFill>
        <p:spPr>
          <a:xfrm>
            <a:off x="23735943" y="6508844"/>
            <a:ext cx="8328062" cy="6974590"/>
          </a:xfrm>
          <a:prstGeom prst="rect">
            <a:avLst/>
          </a:prstGeom>
        </p:spPr>
      </p:pic>
      <p:pic>
        <p:nvPicPr>
          <p:cNvPr id="15" name="Picture 14" descr="A close-up of a graph&#10;&#10;AI-generated content may be incorrect.">
            <a:extLst>
              <a:ext uri="{FF2B5EF4-FFF2-40B4-BE49-F238E27FC236}">
                <a16:creationId xmlns:a16="http://schemas.microsoft.com/office/drawing/2014/main" id="{BDEB3B87-1472-CAD0-96BB-593DF0E5C1D1}"/>
              </a:ext>
            </a:extLst>
          </p:cNvPr>
          <p:cNvPicPr>
            <a:picLocks noChangeAspect="1"/>
          </p:cNvPicPr>
          <p:nvPr/>
        </p:nvPicPr>
        <p:blipFill>
          <a:blip r:embed="rId12">
            <a:extLst>
              <a:ext uri="{BEBA8EAE-BF5A-486C-A8C5-ECC9F3942E4B}">
                <a14:imgProps xmlns:a14="http://schemas.microsoft.com/office/drawing/2010/main">
                  <a14:imgLayer r:embed="rId13">
                    <a14:imgEffect>
                      <a14:sharpenSoften amount="25000"/>
                    </a14:imgEffect>
                  </a14:imgLayer>
                </a14:imgProps>
              </a:ext>
            </a:extLst>
          </a:blip>
          <a:stretch>
            <a:fillRect/>
          </a:stretch>
        </p:blipFill>
        <p:spPr>
          <a:xfrm>
            <a:off x="23883856" y="14271626"/>
            <a:ext cx="8070830" cy="3817095"/>
          </a:xfrm>
          <a:prstGeom prst="rect">
            <a:avLst/>
          </a:prstGeom>
        </p:spPr>
      </p:pic>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CC3FB2D15AA2C408581FBD1099BF6EF" ma:contentTypeVersion="0" ma:contentTypeDescription="Create a new document." ma:contentTypeScope="" ma:versionID="0e74f4a397e51c2007281dbb1f9d07c7">
  <xsd:schema xmlns:xsd="http://www.w3.org/2001/XMLSchema" xmlns:xs="http://www.w3.org/2001/XMLSchema" xmlns:p="http://schemas.microsoft.com/office/2006/metadata/properties" xmlns:ns2="95165cd4-1ac1-45af-a1d4-13b9ed99acdb" targetNamespace="http://schemas.microsoft.com/office/2006/metadata/properties" ma:root="true" ma:fieldsID="7baf4e20462fbe892af3293c1355405b" ns2:_="">
    <xsd:import namespace="95165cd4-1ac1-45af-a1d4-13b9ed99acdb"/>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165cd4-1ac1-45af-a1d4-13b9ed99acd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LongProperties xmlns="http://schemas.microsoft.com/office/2006/metadata/long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F59161C7-9CD2-439A-8DC1-EF4AF7C76039}">
  <ds:schemaRefs>
    <ds:schemaRef ds:uri="95165cd4-1ac1-45af-a1d4-13b9ed99ac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2D74C7F-AAB9-4BC3-AF0F-4871DA7AA379}">
  <ds:schemaRefs>
    <ds:schemaRef ds:uri="http://schemas.microsoft.com/sharepoint/v3/contenttype/forms"/>
  </ds:schemaRefs>
</ds:datastoreItem>
</file>

<file path=customXml/itemProps3.xml><?xml version="1.0" encoding="utf-8"?>
<ds:datastoreItem xmlns:ds="http://schemas.openxmlformats.org/officeDocument/2006/customXml" ds:itemID="{B653D376-4176-4FB4-8C22-8003A85F0866}">
  <ds:schemaRefs>
    <ds:schemaRef ds:uri="http://schemas.microsoft.com/office/2006/metadata/longProperties"/>
  </ds:schemaRefs>
</ds:datastoreItem>
</file>

<file path=customXml/itemProps4.xml><?xml version="1.0" encoding="utf-8"?>
<ds:datastoreItem xmlns:ds="http://schemas.openxmlformats.org/officeDocument/2006/customXml" ds:itemID="{25DDE550-E4A6-486D-863F-A10781FD0B3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1</TotalTime>
  <Words>2068</Words>
  <Application>Microsoft Macintosh PowerPoint</Application>
  <PresentationFormat>Custom</PresentationFormat>
  <Paragraphs>103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vt:lpstr>
      <vt:lpstr>Times New Roman</vt:lpstr>
      <vt:lpstr>Default Design</vt:lpstr>
      <vt:lpstr>PowerPoint Presentation</vt:lpstr>
    </vt:vector>
  </TitlesOfParts>
  <Manager/>
  <Company>Swarthmore College</Company>
  <LinksUpToDate>false</LinksUpToDate>
  <SharedDoc>false</SharedDoc>
  <HyperlinkBase>http://www.swarthmore.edu/NatSci/cpurrin1/posteradvice.htm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for scientific posters</dc:title>
  <dc:subject/>
  <dc:creator>Colin Purrington</dc:creator>
  <cp:keywords/>
  <dc:description>Suggestions and gripes to: cpurrin1@swarthmore.edu</dc:description>
  <cp:lastModifiedBy>Eileen Murray</cp:lastModifiedBy>
  <cp:revision>2</cp:revision>
  <cp:lastPrinted>2026-04-09T15:16:28Z</cp:lastPrinted>
  <dcterms:created xsi:type="dcterms:W3CDTF">2000-07-07T15:10:51Z</dcterms:created>
  <dcterms:modified xsi:type="dcterms:W3CDTF">2026-07-23T16:58:37Z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Colin Purrington</vt:lpwstr>
  </property>
  <property fmtid="{D5CDD505-2E9C-101B-9397-08002B2CF9AE}" pid="3" name="_dlc_DocId">
    <vt:lpwstr>GSPHHP-1326420793-32</vt:lpwstr>
  </property>
  <property fmtid="{D5CDD505-2E9C-101B-9397-08002B2CF9AE}" pid="4" name="_dlc_DocIdItemGuid">
    <vt:lpwstr>ab885ce9-49ba-498c-96e5-0132d209c646</vt:lpwstr>
  </property>
  <property fmtid="{D5CDD505-2E9C-101B-9397-08002B2CF9AE}" pid="5" name="_dlc_DocIdUrl">
    <vt:lpwstr>https://sharepoint.sph.cuny.edu/comm/_layouts/15/DocIdRedir.aspx?ID=GSPHHP-1326420793-32, GSPHHP-1326420793-32</vt:lpwstr>
  </property>
  <property fmtid="{D5CDD505-2E9C-101B-9397-08002B2CF9AE}" pid="6" name="display_urn:schemas-microsoft-com:office:office#SharedWithUsers">
    <vt:lpwstr>Everyone</vt:lpwstr>
  </property>
  <property fmtid="{D5CDD505-2E9C-101B-9397-08002B2CF9AE}" pid="7" name="SharedWithUsers">
    <vt:lpwstr>14;#Everyone</vt:lpwstr>
  </property>
</Properties>
</file>