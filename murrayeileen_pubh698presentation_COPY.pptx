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9" r:id="rId3"/>
    <p:sldId id="271" r:id="rId4"/>
    <p:sldId id="272" r:id="rId5"/>
    <p:sldId id="273" r:id="rId6"/>
    <p:sldId id="264" r:id="rId7"/>
    <p:sldId id="274" r:id="rId8"/>
    <p:sldId id="275" r:id="rId9"/>
    <p:sldId id="276" r:id="rId10"/>
    <p:sldId id="277" r:id="rId11"/>
    <p:sldId id="279" r:id="rId12"/>
    <p:sldId id="278" r:id="rId13"/>
    <p:sldId id="270" r:id="rId14"/>
  </p:sldIdLst>
  <p:sldSz cx="18288000" cy="10287000"/>
  <p:notesSz cx="6858000" cy="9144000"/>
  <p:embeddedFontLst>
    <p:embeddedFont>
      <p:font typeface="Aileron" pitchFamily="2" charset="77"/>
      <p:regular r:id="rId16"/>
    </p:embeddedFont>
    <p:embeddedFont>
      <p:font typeface="Open Sans 1" pitchFamily="2" charset="0"/>
      <p:regular r:id="rId17"/>
    </p:embeddedFont>
    <p:embeddedFont>
      <p:font typeface="Open Sans 1 Bold" pitchFamily="2" charset="0"/>
      <p:regular r:id="rId18"/>
      <p:bold r:id="rId19"/>
    </p:embeddedFont>
    <p:embeddedFont>
      <p:font typeface="Open Sauce" pitchFamily="2" charset="77"/>
      <p:regular r:id="rId20"/>
    </p:embeddedFont>
    <p:embeddedFont>
      <p:font typeface="Open Sauce Bold" pitchFamily="2" charset="77"/>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A5AD52-1DC1-B54F-88A2-9800F1095378}" v="1" dt="2026-07-24T01:02:05.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955" autoAdjust="0"/>
    <p:restoredTop sz="86422" autoAdjust="0"/>
  </p:normalViewPr>
  <p:slideViewPr>
    <p:cSldViewPr>
      <p:cViewPr varScale="1">
        <p:scale>
          <a:sx n="56" d="100"/>
          <a:sy n="56" d="100"/>
        </p:scale>
        <p:origin x="208" y="3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2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423AF-A888-4B41-BED2-FA4090333EA7}" type="datetimeFigureOut">
              <a:rPr lang="en-US" smtClean="0"/>
              <a:t>7/23/26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C5E0C1-0FD0-0B46-8352-A94FA012128E}" type="slidenum">
              <a:rPr lang="en-US" smtClean="0"/>
              <a:t>‹#›</a:t>
            </a:fld>
            <a:endParaRPr lang="en-US"/>
          </a:p>
        </p:txBody>
      </p:sp>
    </p:spTree>
    <p:extLst>
      <p:ext uri="{BB962C8B-B14F-4D97-AF65-F5344CB8AC3E}">
        <p14:creationId xmlns:p14="http://schemas.microsoft.com/office/powerpoint/2010/main" val="210255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Hello, my name is Eileen Murray, and I will be presenting my capstone research on sidewalk access and  daily physical activity among children with asthma.</a:t>
            </a:r>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1</a:t>
            </a:fld>
            <a:endParaRPr lang="en-US"/>
          </a:p>
        </p:txBody>
      </p:sp>
    </p:spTree>
    <p:extLst>
      <p:ext uri="{BB962C8B-B14F-4D97-AF65-F5344CB8AC3E}">
        <p14:creationId xmlns:p14="http://schemas.microsoft.com/office/powerpoint/2010/main" val="262694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begin with, childhood obesity has been increasing in prevalence in the United States, and it often co-occurs alongside childhood asthma. For children with asthma, having obesity may further impact their symptom management. Notably. leading to lack of symptom control, increased medication use, exacerbations and emergency department visits. However, for children with asthma partaking in physical activity can both decrease their obesity risk, and help improve their symptom control. Yet due to a variety of reasons, children with asthma are less likely to engage in physical activity. </a:t>
            </a:r>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2</a:t>
            </a:fld>
            <a:endParaRPr lang="en-US"/>
          </a:p>
        </p:txBody>
      </p:sp>
    </p:spTree>
    <p:extLst>
      <p:ext uri="{BB962C8B-B14F-4D97-AF65-F5344CB8AC3E}">
        <p14:creationId xmlns:p14="http://schemas.microsoft.com/office/powerpoint/2010/main" val="2392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pathway toward increasing daily physical activity may come through neighborhood-level interventions such infrastructures that promote walkability. Previous research found that increased neighborhood walkability was associated with a decrease in asthma incidence, and on-going asthma diagnoses. However, others studies that of which focused on neighborhood amenities broadly and physical activity among children with chronic health needs like asthma did not find a significant association. However, research focusing on neighborhood walkability infrastructures and physical activity broadly found that these infrastructures do promote physical activity amongst children broadly. Especially at the street-level.</a:t>
            </a:r>
          </a:p>
          <a:p>
            <a:r>
              <a:rPr lang="en-US" sz="1200" kern="1200" dirty="0">
                <a:solidFill>
                  <a:schemeClr val="tx1"/>
                </a:solidFill>
                <a:effectLst/>
                <a:latin typeface="+mn-lt"/>
                <a:ea typeface="+mn-ea"/>
                <a:cs typeface="+mn-cs"/>
              </a:rPr>
              <a:t>There this informed the research question of this study: Do reports of neighborhood sidewalks lead to reports of daily physical activity among children with asthma? To achieve, this I utilized the 2023 National Survey on Children’s Health data. And I hypothesized that reported neighborhood sidewalks will be positively associated with odds of reporting daily physical activity. </a:t>
            </a:r>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3</a:t>
            </a:fld>
            <a:endParaRPr lang="en-US"/>
          </a:p>
        </p:txBody>
      </p:sp>
    </p:spTree>
    <p:extLst>
      <p:ext uri="{BB962C8B-B14F-4D97-AF65-F5344CB8AC3E}">
        <p14:creationId xmlns:p14="http://schemas.microsoft.com/office/powerpoint/2010/main" val="3127855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study used data from the 2023 National Survey of Children’s Health, which is a nationally representative survey that captures a wide range of child health and environmental factors in the United States.</a:t>
            </a:r>
          </a:p>
          <a:p>
            <a:r>
              <a:rPr lang="en-US" sz="1200" kern="1200" dirty="0">
                <a:solidFill>
                  <a:schemeClr val="tx1"/>
                </a:solidFill>
                <a:effectLst/>
                <a:latin typeface="+mn-lt"/>
                <a:ea typeface="+mn-ea"/>
                <a:cs typeface="+mn-cs"/>
              </a:rPr>
              <a:t>The analytic sample was restricted to children ages 6 to 17 whose caregivers reported that the child currently had asthma and had complete data on sidewalks and physical activity. The observed sample included 3,640 children, and after applying multiple imputation for income, the final analytic sample was 16,074.</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exposure variable</a:t>
            </a:r>
            <a:r>
              <a:rPr lang="en-US" sz="1200" kern="1200" dirty="0">
                <a:solidFill>
                  <a:schemeClr val="tx1"/>
                </a:solidFill>
                <a:effectLst/>
                <a:latin typeface="+mn-lt"/>
                <a:ea typeface="+mn-ea"/>
                <a:cs typeface="+mn-cs"/>
              </a:rPr>
              <a:t> was parent-reported presence of sidewalks or walking paths in the neighborhood, measured as a yes or no response.</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outcome variable</a:t>
            </a:r>
            <a:r>
              <a:rPr lang="en-US" sz="1200" kern="1200" dirty="0">
                <a:solidFill>
                  <a:schemeClr val="tx1"/>
                </a:solidFill>
                <a:effectLst/>
                <a:latin typeface="+mn-lt"/>
                <a:ea typeface="+mn-ea"/>
                <a:cs typeface="+mn-cs"/>
              </a:rPr>
              <a:t> was physical activity, based on the number of days per week the child engaged in at least 60 minutes of activity. This was recoded into a dichotomous variable comparing daily activity versus non-daily activity.</a:t>
            </a:r>
          </a:p>
          <a:p>
            <a:r>
              <a:rPr lang="en-US" sz="1200" kern="1200" dirty="0">
                <a:solidFill>
                  <a:schemeClr val="tx1"/>
                </a:solidFill>
                <a:effectLst/>
                <a:latin typeface="+mn-lt"/>
                <a:ea typeface="+mn-ea"/>
                <a:cs typeface="+mn-cs"/>
              </a:rPr>
              <a:t>Several </a:t>
            </a:r>
            <a:r>
              <a:rPr lang="en-US" sz="1200" b="1" kern="1200" dirty="0">
                <a:solidFill>
                  <a:schemeClr val="tx1"/>
                </a:solidFill>
                <a:effectLst/>
                <a:latin typeface="+mn-lt"/>
                <a:ea typeface="+mn-ea"/>
                <a:cs typeface="+mn-cs"/>
              </a:rPr>
              <a:t>covariates</a:t>
            </a:r>
            <a:r>
              <a:rPr lang="en-US" sz="1200" kern="1200" dirty="0">
                <a:solidFill>
                  <a:schemeClr val="tx1"/>
                </a:solidFill>
                <a:effectLst/>
                <a:latin typeface="+mn-lt"/>
                <a:ea typeface="+mn-ea"/>
                <a:cs typeface="+mn-cs"/>
              </a:rPr>
              <a:t> were included:</a:t>
            </a:r>
          </a:p>
          <a:p>
            <a:pPr lvl="0"/>
            <a:r>
              <a:rPr lang="en-US" sz="1200" kern="1200" dirty="0">
                <a:solidFill>
                  <a:schemeClr val="tx1"/>
                </a:solidFill>
                <a:effectLst/>
                <a:latin typeface="+mn-lt"/>
                <a:ea typeface="+mn-ea"/>
                <a:cs typeface="+mn-cs"/>
              </a:rPr>
              <a:t>Age groups (children 6-10, adolescents 11-17) and sex  due to interactions of sex and puberty on asthma status</a:t>
            </a:r>
          </a:p>
          <a:p>
            <a:pPr lvl="0"/>
            <a:r>
              <a:rPr lang="en-US" sz="1200" kern="1200" dirty="0">
                <a:solidFill>
                  <a:schemeClr val="tx1"/>
                </a:solidFill>
                <a:effectLst/>
                <a:latin typeface="+mn-lt"/>
                <a:ea typeface="+mn-ea"/>
                <a:cs typeface="+mn-cs"/>
              </a:rPr>
              <a:t>Socioeconomic status using federal poverty level  (FPL) due to influence SES can have on neighborhood conditions</a:t>
            </a:r>
          </a:p>
          <a:p>
            <a:pPr lvl="0"/>
            <a:r>
              <a:rPr lang="en-US" sz="1200" kern="1200" dirty="0">
                <a:solidFill>
                  <a:schemeClr val="tx1"/>
                </a:solidFill>
                <a:effectLst/>
                <a:latin typeface="+mn-lt"/>
                <a:ea typeface="+mn-ea"/>
                <a:cs typeface="+mn-cs"/>
              </a:rPr>
              <a:t>Adverse childhood experiences (ACES), categorized as 0, 1, or 2+ out of the ten total ACES ask . this was included as it can negatively impact physical activity </a:t>
            </a:r>
          </a:p>
          <a:p>
            <a:pPr lvl="0"/>
            <a:r>
              <a:rPr lang="en-US" sz="1200" kern="1200" dirty="0">
                <a:solidFill>
                  <a:schemeClr val="tx1"/>
                </a:solidFill>
                <a:effectLst/>
                <a:latin typeface="+mn-lt"/>
                <a:ea typeface="+mn-ea"/>
                <a:cs typeface="+mn-cs"/>
              </a:rPr>
              <a:t>Neighborhood safety, categorized as safe or unsafe. This was derived from a question that had 4 levels of safety regarding neighborhood safety, but was made dichotomous </a:t>
            </a:r>
          </a:p>
          <a:p>
            <a:pPr lvl="0"/>
            <a:r>
              <a:rPr lang="en-US" sz="1200" kern="1200" dirty="0">
                <a:solidFill>
                  <a:schemeClr val="tx1"/>
                </a:solidFill>
                <a:effectLst/>
                <a:latin typeface="+mn-lt"/>
                <a:ea typeface="+mn-ea"/>
                <a:cs typeface="+mn-cs"/>
              </a:rPr>
              <a:t>Neighborhood detracting elements,  were derived from questions regarding litter, vandalism, and rundown housing. A two level variable was creating indicating if any of those elements were present, or not present.</a:t>
            </a:r>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4</a:t>
            </a:fld>
            <a:endParaRPr lang="en-US"/>
          </a:p>
        </p:txBody>
      </p:sp>
    </p:spTree>
    <p:extLst>
      <p:ext uri="{BB962C8B-B14F-4D97-AF65-F5344CB8AC3E}">
        <p14:creationId xmlns:p14="http://schemas.microsoft.com/office/powerpoint/2010/main" val="960919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Descriptive statistics were first generated to summarize the sample. Then, survey-weighted logistic regression models were used to estimate the association between sidewalks and physical activity. Models were run as crude, partially adjusted, and fully adjusted.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Additional analyses included sensitivity analyses for missing data and tests for interaction on the multiplicative scale with neighborhood safety and detracting elements. All analyses accounted for the survey design and were conducted in SAS on demand for academics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5</a:t>
            </a:fld>
            <a:endParaRPr lang="en-US"/>
          </a:p>
        </p:txBody>
      </p:sp>
    </p:spTree>
    <p:extLst>
      <p:ext uri="{BB962C8B-B14F-4D97-AF65-F5344CB8AC3E}">
        <p14:creationId xmlns:p14="http://schemas.microsoft.com/office/powerpoint/2010/main" val="2895273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final sample, about 77% of children were reported to live in neighborhoods with sidewalks, and missing data across variables was low.</a:t>
            </a:r>
          </a:p>
          <a:p>
            <a:endParaRPr lang="en-US" dirty="0"/>
          </a:p>
          <a:p>
            <a:r>
              <a:rPr lang="en-US" dirty="0"/>
              <a:t>Adolescents and males represented the largest proportions of those reporting sidewalk presence. Higher-income households and those in safer neighborhoods were also more likely to report sidewalks.</a:t>
            </a:r>
          </a:p>
          <a:p>
            <a:endParaRPr lang="en-US" dirty="0"/>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6</a:t>
            </a:fld>
            <a:endParaRPr lang="en-US"/>
          </a:p>
        </p:txBody>
      </p:sp>
    </p:spTree>
    <p:extLst>
      <p:ext uri="{BB962C8B-B14F-4D97-AF65-F5344CB8AC3E}">
        <p14:creationId xmlns:p14="http://schemas.microsoft.com/office/powerpoint/2010/main" val="2332108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examining the association between sidewalks and physical activity, </a:t>
            </a:r>
            <a:r>
              <a:rPr lang="en-US" sz="1200" b="1" kern="1200" dirty="0">
                <a:solidFill>
                  <a:schemeClr val="tx1"/>
                </a:solidFill>
                <a:effectLst/>
                <a:latin typeface="+mn-lt"/>
                <a:ea typeface="+mn-ea"/>
                <a:cs typeface="+mn-cs"/>
              </a:rPr>
              <a:t>no statistically significant relationships were found across any of the models</a:t>
            </a:r>
            <a:r>
              <a:rPr lang="en-US" sz="1200" kern="1200" dirty="0">
                <a:solidFill>
                  <a:schemeClr val="tx1"/>
                </a:solidFill>
                <a:effectLst/>
                <a:latin typeface="+mn-lt"/>
                <a:ea typeface="+mn-ea"/>
                <a:cs typeface="+mn-cs"/>
              </a:rPr>
              <a:t>. All confidence intervals overlapped with the null value.</a:t>
            </a:r>
          </a:p>
          <a:p>
            <a:r>
              <a:rPr lang="en-US" sz="1200" kern="1200" dirty="0">
                <a:solidFill>
                  <a:schemeClr val="tx1"/>
                </a:solidFill>
                <a:effectLst/>
                <a:latin typeface="+mn-lt"/>
                <a:ea typeface="+mn-ea"/>
                <a:cs typeface="+mn-cs"/>
              </a:rPr>
              <a:t>The crude model suggested lower odds of daily physical activity among those with sidewalks. However, after adjusting for demographic, socioeconomic, and neighborhood factors, the direction shifted slightly toward higher odds—but remained non-significant.</a:t>
            </a:r>
          </a:p>
          <a:p>
            <a:r>
              <a:rPr lang="en-US" sz="1200" kern="1200" dirty="0">
                <a:solidFill>
                  <a:schemeClr val="tx1"/>
                </a:solidFill>
                <a:effectLst/>
                <a:latin typeface="+mn-lt"/>
                <a:ea typeface="+mn-ea"/>
                <a:cs typeface="+mn-cs"/>
              </a:rPr>
              <a:t>Sensitivity analyses and interaction tests with neighborhood safety and detracting elements also showed no meaningful changes in the results.</a:t>
            </a:r>
          </a:p>
          <a:p>
            <a:r>
              <a:rPr lang="en-US" sz="1200" kern="1200" dirty="0">
                <a:solidFill>
                  <a:schemeClr val="tx1"/>
                </a:solidFill>
                <a:effectLst/>
                <a:latin typeface="+mn-lt"/>
                <a:ea typeface="+mn-ea"/>
                <a:cs typeface="+mn-cs"/>
              </a:rPr>
              <a:t>Overall, the findings consistently indicated </a:t>
            </a:r>
            <a:r>
              <a:rPr lang="en-US" sz="1200" b="1" kern="1200" dirty="0">
                <a:solidFill>
                  <a:schemeClr val="tx1"/>
                </a:solidFill>
                <a:effectLst/>
                <a:latin typeface="+mn-lt"/>
                <a:ea typeface="+mn-ea"/>
                <a:cs typeface="+mn-cs"/>
              </a:rPr>
              <a:t>no clear association</a:t>
            </a:r>
            <a:r>
              <a:rPr lang="en-US" sz="1200" kern="1200" dirty="0">
                <a:solidFill>
                  <a:schemeClr val="tx1"/>
                </a:solidFill>
                <a:effectLst/>
                <a:latin typeface="+mn-lt"/>
                <a:ea typeface="+mn-ea"/>
                <a:cs typeface="+mn-cs"/>
              </a:rPr>
              <a:t> between sidewalk presence and daily physical activity in this population.</a:t>
            </a:r>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7</a:t>
            </a:fld>
            <a:endParaRPr lang="en-US"/>
          </a:p>
        </p:txBody>
      </p:sp>
    </p:spTree>
    <p:extLst>
      <p:ext uri="{BB962C8B-B14F-4D97-AF65-F5344CB8AC3E}">
        <p14:creationId xmlns:p14="http://schemas.microsoft.com/office/powerpoint/2010/main" val="3096572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dirty="0"/>
              <a:t>Overall, this study found no association between neighborhood sidewalks and daily physical activity among children with asthma, which did not support the hypothesis. Although results slightly suggested lower activity with sidewalks, they were not statistically significant, and neighborhood factors did not modify the relationship.</a:t>
            </a:r>
          </a:p>
          <a:p>
            <a:r>
              <a:rPr lang="en-US" dirty="0"/>
              <a:t>While prior research generally shows that walkability improves asthma and physical activity outcomes, those studies use more detailed measures like geographic data or walkability indices—suggesting a broader interplay of neighborhood conditions beyond sidewalks alone. These findings are consistent with other studies using NSCH data.</a:t>
            </a:r>
          </a:p>
          <a:p>
            <a:r>
              <a:rPr lang="en-US" dirty="0"/>
              <a:t>Strengths include a large, nationally representative sample and adjustment for key factors like age, sex, socioeconomic status, ACEs, and neighborhood conditions.</a:t>
            </a:r>
          </a:p>
          <a:p>
            <a:r>
              <a:rPr lang="en-US" dirty="0"/>
              <a:t>However, limitations include reliance on parent-reported data and lack of objective measures. Future research should use more detailed and objective methods to better understand these relationships.</a:t>
            </a:r>
          </a:p>
        </p:txBody>
      </p:sp>
      <p:sp>
        <p:nvSpPr>
          <p:cNvPr id="4" name="Slide Number Placeholder 3"/>
          <p:cNvSpPr>
            <a:spLocks noGrp="1"/>
          </p:cNvSpPr>
          <p:nvPr>
            <p:ph type="sldNum" sz="quarter" idx="5"/>
          </p:nvPr>
        </p:nvSpPr>
        <p:spPr/>
        <p:txBody>
          <a:bodyPr/>
          <a:lstStyle/>
          <a:p>
            <a:fld id="{80C5E0C1-0FD0-0B46-8352-A94FA012128E}" type="slidenum">
              <a:rPr lang="en-US" smtClean="0"/>
              <a:t>8</a:t>
            </a:fld>
            <a:endParaRPr lang="en-US"/>
          </a:p>
        </p:txBody>
      </p:sp>
    </p:spTree>
    <p:extLst>
      <p:ext uri="{BB962C8B-B14F-4D97-AF65-F5344CB8AC3E}">
        <p14:creationId xmlns:p14="http://schemas.microsoft.com/office/powerpoint/2010/main" val="1531978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was no evidence that reported sidewalk presence is associated with daily physical activity among children with asthma.</a:t>
            </a:r>
          </a:p>
          <a:p>
            <a:endParaRPr lang="en-US" dirty="0"/>
          </a:p>
          <a:p>
            <a:r>
              <a:rPr lang="en-US" dirty="0"/>
              <a:t>These findings suggest that sidewalks alone may not be sufficient to influence physical activity in this group. Instead, broader neighborhood conditions and more precise measurement approaches may be needed to better understand what supports physical activity.</a:t>
            </a:r>
          </a:p>
          <a:p>
            <a:endParaRPr lang="en-US" dirty="0"/>
          </a:p>
          <a:p>
            <a:r>
              <a:rPr lang="en-US" dirty="0"/>
              <a:t>Future research should incorporate objective environmental data and direct measures of physical activity to better capture these relationships.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0C5E0C1-0FD0-0B46-8352-A94FA012128E}" type="slidenum">
              <a:rPr lang="en-US" smtClean="0"/>
              <a:t>9</a:t>
            </a:fld>
            <a:endParaRPr lang="en-US"/>
          </a:p>
        </p:txBody>
      </p:sp>
    </p:spTree>
    <p:extLst>
      <p:ext uri="{BB962C8B-B14F-4D97-AF65-F5344CB8AC3E}">
        <p14:creationId xmlns:p14="http://schemas.microsoft.com/office/powerpoint/2010/main" val="2563003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13385431" y="981075"/>
            <a:ext cx="2264569" cy="349250"/>
          </a:xfrm>
          <a:prstGeom prst="rect">
            <a:avLst/>
          </a:prstGeom>
        </p:spPr>
        <p:txBody>
          <a:bodyPr lIns="0" tIns="0" rIns="0" bIns="0" rtlCol="0" anchor="t">
            <a:spAutoFit/>
          </a:bodyPr>
          <a:lstStyle/>
          <a:p>
            <a:pPr algn="l">
              <a:lnSpc>
                <a:spcPts val="2800"/>
              </a:lnSpc>
            </a:pPr>
            <a:r>
              <a:rPr lang="en-US" sz="2000" spc="-88" dirty="0">
                <a:solidFill>
                  <a:srgbClr val="FFFFFF"/>
                </a:solidFill>
                <a:latin typeface="Open Sans 1"/>
                <a:ea typeface="Open Sans 1"/>
                <a:cs typeface="Open Sans 1"/>
                <a:sym typeface="Open Sans 1"/>
              </a:rPr>
              <a:t>Presented by : </a:t>
            </a:r>
          </a:p>
        </p:txBody>
      </p:sp>
      <p:sp>
        <p:nvSpPr>
          <p:cNvPr id="7" name="TextBox 7"/>
          <p:cNvSpPr txBox="1"/>
          <p:nvPr/>
        </p:nvSpPr>
        <p:spPr>
          <a:xfrm>
            <a:off x="15019312" y="1005236"/>
            <a:ext cx="2264569" cy="335541"/>
          </a:xfrm>
          <a:prstGeom prst="rect">
            <a:avLst/>
          </a:prstGeom>
        </p:spPr>
        <p:txBody>
          <a:bodyPr lIns="0" tIns="0" rIns="0" bIns="0" rtlCol="0" anchor="t">
            <a:spAutoFit/>
          </a:bodyPr>
          <a:lstStyle/>
          <a:p>
            <a:pPr algn="l">
              <a:lnSpc>
                <a:spcPts val="2800"/>
              </a:lnSpc>
            </a:pPr>
            <a:r>
              <a:rPr lang="en-US" sz="2000" b="1" spc="-88" dirty="0">
                <a:solidFill>
                  <a:srgbClr val="FFFFFF"/>
                </a:solidFill>
                <a:latin typeface="Open Sans 1 Bold"/>
                <a:ea typeface="Open Sans 1 Bold"/>
                <a:cs typeface="Open Sans 1 Bold"/>
                <a:sym typeface="Open Sans 1 Bold"/>
              </a:rPr>
              <a:t>Eileen M. Murray</a:t>
            </a:r>
          </a:p>
        </p:txBody>
      </p:sp>
      <p:sp>
        <p:nvSpPr>
          <p:cNvPr id="8" name="TextBox 8"/>
          <p:cNvSpPr txBox="1"/>
          <p:nvPr/>
        </p:nvSpPr>
        <p:spPr>
          <a:xfrm>
            <a:off x="643146" y="3805699"/>
            <a:ext cx="17001708" cy="3963521"/>
          </a:xfrm>
          <a:prstGeom prst="rect">
            <a:avLst/>
          </a:prstGeom>
        </p:spPr>
        <p:txBody>
          <a:bodyPr lIns="0" tIns="0" rIns="0" bIns="0" rtlCol="0" anchor="t">
            <a:spAutoFit/>
          </a:bodyPr>
          <a:lstStyle/>
          <a:p>
            <a:pPr marL="0" lvl="0" indent="0" algn="l">
              <a:lnSpc>
                <a:spcPts val="16392"/>
              </a:lnSpc>
            </a:pPr>
            <a:r>
              <a:rPr lang="en-US" sz="9600" b="1" spc="-977" dirty="0">
                <a:solidFill>
                  <a:srgbClr val="FFFFFF"/>
                </a:solidFill>
                <a:latin typeface="Open Sauce Bold"/>
                <a:ea typeface="Open Sauce Bold"/>
                <a:cs typeface="Open Sauce Bold"/>
                <a:sym typeface="Open Sauce Bold"/>
              </a:rPr>
              <a:t>Sidewalk Access &amp; Daily Physical Activity in Children With Asthma</a:t>
            </a:r>
          </a:p>
        </p:txBody>
      </p:sp>
      <p:sp>
        <p:nvSpPr>
          <p:cNvPr id="9" name="TextBox 9"/>
          <p:cNvSpPr txBox="1"/>
          <p:nvPr/>
        </p:nvSpPr>
        <p:spPr>
          <a:xfrm>
            <a:off x="643146" y="7238452"/>
            <a:ext cx="12629183" cy="1789657"/>
          </a:xfrm>
          <a:prstGeom prst="rect">
            <a:avLst/>
          </a:prstGeom>
        </p:spPr>
        <p:txBody>
          <a:bodyPr lIns="0" tIns="0" rIns="0" bIns="0" rtlCol="0" anchor="t">
            <a:spAutoFit/>
          </a:bodyPr>
          <a:lstStyle/>
          <a:p>
            <a:pPr marL="0" lvl="0" indent="0" algn="l">
              <a:lnSpc>
                <a:spcPts val="16392"/>
              </a:lnSpc>
            </a:pPr>
            <a:r>
              <a:rPr lang="en-US" sz="7200" spc="-977" dirty="0">
                <a:solidFill>
                  <a:srgbClr val="FFFFFF"/>
                </a:solidFill>
                <a:latin typeface="Open Sauce"/>
                <a:ea typeface="Open Sauce"/>
                <a:cs typeface="Open Sauce"/>
                <a:sym typeface="Open Sauce"/>
              </a:rPr>
              <a:t>A Cross-Sectional Analysis</a:t>
            </a:r>
          </a:p>
        </p:txBody>
      </p:sp>
      <p:sp>
        <p:nvSpPr>
          <p:cNvPr id="10" name="TextBox 10"/>
          <p:cNvSpPr txBox="1"/>
          <p:nvPr/>
        </p:nvSpPr>
        <p:spPr>
          <a:xfrm>
            <a:off x="12756505" y="8594104"/>
            <a:ext cx="4527376" cy="645048"/>
          </a:xfrm>
          <a:prstGeom prst="rect">
            <a:avLst/>
          </a:prstGeom>
        </p:spPr>
        <p:txBody>
          <a:bodyPr wrap="square" lIns="0" tIns="0" rIns="0" bIns="0" rtlCol="0" anchor="t">
            <a:spAutoFit/>
          </a:bodyPr>
          <a:lstStyle/>
          <a:p>
            <a:pPr algn="l">
              <a:lnSpc>
                <a:spcPts val="2608"/>
              </a:lnSpc>
            </a:pPr>
            <a:r>
              <a:rPr lang="en-US" sz="2086" spc="-62" dirty="0">
                <a:solidFill>
                  <a:srgbClr val="FFFFFF"/>
                </a:solidFill>
                <a:latin typeface="Aileron"/>
                <a:ea typeface="Aileron"/>
                <a:cs typeface="Aileron"/>
                <a:sym typeface="Aileron"/>
              </a:rPr>
              <a:t>PUBH698: Capstone  Project</a:t>
            </a:r>
          </a:p>
          <a:p>
            <a:pPr algn="l">
              <a:lnSpc>
                <a:spcPts val="2608"/>
              </a:lnSpc>
            </a:pPr>
            <a:r>
              <a:rPr lang="en-US" sz="2086" spc="-62" dirty="0">
                <a:solidFill>
                  <a:srgbClr val="FFFFFF"/>
                </a:solidFill>
                <a:latin typeface="Aileron"/>
                <a:ea typeface="Aileron"/>
                <a:cs typeface="Aileron"/>
                <a:sym typeface="Aileron"/>
              </a:rPr>
              <a:t>Capstone Professor: Dr. Chloe </a:t>
            </a:r>
            <a:r>
              <a:rPr lang="en-US" sz="2086" spc="-62" dirty="0" err="1">
                <a:solidFill>
                  <a:srgbClr val="FFFFFF"/>
                </a:solidFill>
                <a:latin typeface="Aileron"/>
                <a:ea typeface="Aileron"/>
                <a:cs typeface="Aileron"/>
                <a:sym typeface="Aileron"/>
              </a:rPr>
              <a:t>Mirzayi</a:t>
            </a:r>
            <a:endParaRPr lang="en-US" sz="2086" spc="-62" dirty="0">
              <a:solidFill>
                <a:srgbClr val="FFFFFF"/>
              </a:solidFill>
              <a:latin typeface="Aileron"/>
              <a:ea typeface="Aileron"/>
              <a:cs typeface="Aileron"/>
              <a:sym typeface="Aileron"/>
            </a:endParaRPr>
          </a:p>
        </p:txBody>
      </p:sp>
      <p:pic>
        <p:nvPicPr>
          <p:cNvPr id="11" name="Picture 1">
            <a:extLst>
              <a:ext uri="{FF2B5EF4-FFF2-40B4-BE49-F238E27FC236}">
                <a16:creationId xmlns:a16="http://schemas.microsoft.com/office/drawing/2014/main" id="{B4FA39A8-F242-F8AA-7C2F-F28AE78F205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316761"/>
            <a:ext cx="6129427" cy="1013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Background </a:t>
            </a:r>
          </a:p>
        </p:txBody>
      </p:sp>
      <p:sp>
        <p:nvSpPr>
          <p:cNvPr id="9" name="TextBox 9"/>
          <p:cNvSpPr txBox="1"/>
          <p:nvPr/>
        </p:nvSpPr>
        <p:spPr>
          <a:xfrm>
            <a:off x="1295400" y="2226309"/>
            <a:ext cx="15544800" cy="5551648"/>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Childhood obesity has increased in prevalence in the United States.</a:t>
            </a:r>
            <a:r>
              <a:rPr lang="en-US" sz="4000" u="none" strike="noStrike" spc="-59" baseline="30000" dirty="0">
                <a:solidFill>
                  <a:srgbClr val="FFFFFF"/>
                </a:solidFill>
                <a:ea typeface="Open Sans 1"/>
                <a:cs typeface="Open Sans 1"/>
                <a:sym typeface="Open Sans 1"/>
              </a:rPr>
              <a:t>1</a:t>
            </a:r>
            <a:r>
              <a:rPr lang="en-US" sz="4000" u="none" strike="noStrike" spc="-59" dirty="0">
                <a:solidFill>
                  <a:srgbClr val="FFFFFF"/>
                </a:solidFill>
                <a:ea typeface="Open Sans 1"/>
                <a:cs typeface="Open Sans 1"/>
                <a:sym typeface="Open Sans 1"/>
              </a:rPr>
              <a:t> Childhood asthma occurs alongside childhood obesity.</a:t>
            </a:r>
            <a:r>
              <a:rPr lang="en-US" sz="4000" u="none" strike="noStrike" spc="-59" baseline="30000" dirty="0">
                <a:solidFill>
                  <a:srgbClr val="FFFFFF"/>
                </a:solidFill>
                <a:ea typeface="Open Sans 1"/>
                <a:cs typeface="Open Sans 1"/>
                <a:sym typeface="Open Sans 1"/>
              </a:rPr>
              <a:t>2 </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Obesity impacts asthma symptom control</a:t>
            </a:r>
            <a:r>
              <a:rPr lang="en-US" sz="4000" spc="-59" dirty="0">
                <a:solidFill>
                  <a:srgbClr val="FFFFFF"/>
                </a:solidFill>
                <a:ea typeface="Open Sans 1"/>
                <a:cs typeface="Open Sans 1"/>
                <a:sym typeface="Open Sans 1"/>
              </a:rPr>
              <a:t>. </a:t>
            </a:r>
            <a:r>
              <a:rPr lang="en-US" sz="4000" u="none" strike="noStrike" spc="-59" baseline="30000" dirty="0">
                <a:solidFill>
                  <a:srgbClr val="FFFFFF"/>
                </a:solidFill>
                <a:ea typeface="Open Sans 1"/>
                <a:cs typeface="Open Sans 1"/>
                <a:sym typeface="Open Sans 1"/>
              </a:rPr>
              <a:t>3,4</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Physical activity may be a critical preventative strategy. </a:t>
            </a:r>
            <a:r>
              <a:rPr lang="en-US" sz="4000" u="none" strike="noStrike" spc="-59" baseline="30000" dirty="0">
                <a:solidFill>
                  <a:srgbClr val="FFFFFF"/>
                </a:solidFill>
                <a:ea typeface="Open Sans 1"/>
                <a:cs typeface="Open Sans 1"/>
                <a:sym typeface="Open Sans 1"/>
              </a:rPr>
              <a:t>4-6</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Children with asthma are less likely to engage in physical activity. </a:t>
            </a:r>
            <a:r>
              <a:rPr lang="en-US" sz="4000" u="none" strike="noStrike" spc="-59" baseline="30000" dirty="0">
                <a:solidFill>
                  <a:srgbClr val="FFFFFF"/>
                </a:solidFill>
                <a:ea typeface="Open Sans 1"/>
                <a:cs typeface="Open Sans 1"/>
                <a:sym typeface="Open Sans 1"/>
              </a:rPr>
              <a:t>4,8-10</a:t>
            </a: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14396-6687-E476-B9D5-4769F7E4FF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DCE8092-4456-AE83-D2DE-5E0DFBA6B0A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a:extLst>
              <a:ext uri="{FF2B5EF4-FFF2-40B4-BE49-F238E27FC236}">
                <a16:creationId xmlns:a16="http://schemas.microsoft.com/office/drawing/2014/main" id="{AED00E7A-210C-A613-0908-C6873E259949}"/>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70B57AB5-25BE-817A-EDC4-643D045B71BB}"/>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Background </a:t>
            </a:r>
          </a:p>
        </p:txBody>
      </p:sp>
      <p:sp>
        <p:nvSpPr>
          <p:cNvPr id="9" name="TextBox 9">
            <a:extLst>
              <a:ext uri="{FF2B5EF4-FFF2-40B4-BE49-F238E27FC236}">
                <a16:creationId xmlns:a16="http://schemas.microsoft.com/office/drawing/2014/main" id="{A84C8395-87A8-4C9D-77F7-69429B8D405A}"/>
              </a:ext>
            </a:extLst>
          </p:cNvPr>
          <p:cNvSpPr txBox="1"/>
          <p:nvPr/>
        </p:nvSpPr>
        <p:spPr>
          <a:xfrm>
            <a:off x="1295400" y="2226309"/>
            <a:ext cx="15544800" cy="8013860"/>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Improved walkability may be one pathway toward </a:t>
            </a:r>
            <a:r>
              <a:rPr lang="en-US" sz="4000" spc="-59" dirty="0">
                <a:solidFill>
                  <a:srgbClr val="FFFFFF"/>
                </a:solidFill>
                <a:ea typeface="Open Sans 1"/>
                <a:cs typeface="Open Sans 1"/>
                <a:sym typeface="Open Sans 1"/>
              </a:rPr>
              <a:t>increasing physical activity. </a:t>
            </a:r>
            <a:r>
              <a:rPr lang="en-US" sz="4000" u="none" strike="noStrike" spc="-59" baseline="30000" dirty="0">
                <a:solidFill>
                  <a:srgbClr val="FFFFFF"/>
                </a:solidFill>
                <a:ea typeface="Open Sans 1"/>
                <a:cs typeface="Open Sans 1"/>
                <a:sym typeface="Open Sans 1"/>
              </a:rPr>
              <a:t>10-15</a:t>
            </a:r>
          </a:p>
          <a:p>
            <a:pPr marL="800100" lvl="1" indent="-342900">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There is conflicting evidence regarding asthma outcomes, and physical activity amongst children with asthma.</a:t>
            </a:r>
            <a:r>
              <a:rPr lang="en-US" sz="4000" u="none" strike="noStrike" spc="-59" baseline="30000" dirty="0">
                <a:solidFill>
                  <a:srgbClr val="FFFFFF"/>
                </a:solidFill>
                <a:ea typeface="Open Sans 1"/>
                <a:cs typeface="Open Sans 1"/>
                <a:sym typeface="Open Sans 1"/>
              </a:rPr>
              <a:t>16,17,18</a:t>
            </a:r>
          </a:p>
          <a:p>
            <a:pPr marL="800100" lvl="1" indent="-342900">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Walkability and physical activity studies agree increased walkability improves physical activity. </a:t>
            </a:r>
            <a:r>
              <a:rPr lang="en-US" sz="4000" u="none" strike="noStrike" spc="-59" baseline="30000" dirty="0">
                <a:solidFill>
                  <a:srgbClr val="FFFFFF"/>
                </a:solidFill>
                <a:ea typeface="Open Sans 1"/>
                <a:cs typeface="Open Sans 1"/>
                <a:sym typeface="Open Sans 1"/>
              </a:rPr>
              <a:t>11, 14, 15</a:t>
            </a:r>
          </a:p>
          <a:p>
            <a:pPr marL="342900"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Question</a:t>
            </a:r>
            <a:r>
              <a:rPr lang="en-US" sz="4000" u="none" strike="noStrike" spc="-59" dirty="0">
                <a:solidFill>
                  <a:srgbClr val="FFFFFF"/>
                </a:solidFill>
                <a:ea typeface="Open Sans 1"/>
                <a:cs typeface="Open Sans 1"/>
                <a:sym typeface="Open Sans 1"/>
              </a:rPr>
              <a:t>: Do reports of neighborhood sidewalks lead to reports of daily physical activity among children with asthma?</a:t>
            </a:r>
          </a:p>
          <a:p>
            <a:pPr marL="342900"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Data</a:t>
            </a:r>
            <a:r>
              <a:rPr lang="en-US" sz="4000" u="none" strike="noStrike" spc="-59" dirty="0">
                <a:solidFill>
                  <a:srgbClr val="FFFFFF"/>
                </a:solidFill>
                <a:ea typeface="Open Sans 1"/>
                <a:cs typeface="Open Sans 1"/>
                <a:sym typeface="Open Sans 1"/>
              </a:rPr>
              <a:t>: National Survey on Children’s Health (NSCH) 2023 survey data. </a:t>
            </a:r>
            <a:r>
              <a:rPr lang="en-US" sz="4000" spc="-59" baseline="30000" dirty="0">
                <a:solidFill>
                  <a:srgbClr val="FFFFFF"/>
                </a:solidFill>
                <a:ea typeface="Open Sans 1"/>
                <a:cs typeface="Open Sans 1"/>
                <a:sym typeface="Open Sans 1"/>
              </a:rPr>
              <a:t>16</a:t>
            </a:r>
            <a:r>
              <a:rPr lang="en-US" sz="4000" u="none" strike="noStrike" spc="-59" baseline="30000" dirty="0">
                <a:solidFill>
                  <a:srgbClr val="FFFFFF"/>
                </a:solidFill>
                <a:ea typeface="Open Sans 1"/>
                <a:cs typeface="Open Sans 1"/>
                <a:sym typeface="Open Sans 1"/>
              </a:rPr>
              <a:t>, </a:t>
            </a:r>
          </a:p>
          <a:p>
            <a:pPr marL="342900"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Hypothesis</a:t>
            </a:r>
            <a:r>
              <a:rPr lang="en-US" sz="4000" u="none" strike="noStrike" spc="-59" dirty="0">
                <a:solidFill>
                  <a:srgbClr val="FFFFFF"/>
                </a:solidFill>
                <a:ea typeface="Open Sans 1"/>
                <a:cs typeface="Open Sans 1"/>
                <a:sym typeface="Open Sans 1"/>
              </a:rPr>
              <a:t>: Reported neighborhood sidewalks will be positively associated with odds of reporting daily physical activity. </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extLst>
      <p:ext uri="{BB962C8B-B14F-4D97-AF65-F5344CB8AC3E}">
        <p14:creationId xmlns:p14="http://schemas.microsoft.com/office/powerpoint/2010/main" val="1317192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15809-13B0-0226-20A0-D488D8FD64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F6EAC2F-78C1-2112-8A8E-B562AE420EC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a:extLst>
              <a:ext uri="{FF2B5EF4-FFF2-40B4-BE49-F238E27FC236}">
                <a16:creationId xmlns:a16="http://schemas.microsoft.com/office/drawing/2014/main" id="{0082D8E1-0977-782C-B7CD-DE12A32B432E}"/>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10992AED-398B-D631-7BF3-B168F27AF376}"/>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Methods </a:t>
            </a:r>
          </a:p>
        </p:txBody>
      </p:sp>
      <p:sp>
        <p:nvSpPr>
          <p:cNvPr id="9" name="TextBox 9">
            <a:extLst>
              <a:ext uri="{FF2B5EF4-FFF2-40B4-BE49-F238E27FC236}">
                <a16:creationId xmlns:a16="http://schemas.microsoft.com/office/drawing/2014/main" id="{DA243801-56DF-96B0-B5F2-E7FA91153740}"/>
              </a:ext>
            </a:extLst>
          </p:cNvPr>
          <p:cNvSpPr txBox="1"/>
          <p:nvPr/>
        </p:nvSpPr>
        <p:spPr>
          <a:xfrm>
            <a:off x="1295400" y="2226309"/>
            <a:ext cx="15544800" cy="9244967"/>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Data</a:t>
            </a:r>
            <a:r>
              <a:rPr lang="en-US" sz="4000" u="none" strike="noStrike" spc="-59" dirty="0">
                <a:solidFill>
                  <a:srgbClr val="FFFFFF"/>
                </a:solidFill>
                <a:ea typeface="Open Sans 1"/>
                <a:cs typeface="Open Sans 1"/>
                <a:sym typeface="Open Sans 1"/>
              </a:rPr>
              <a:t>: 2023 NSCH Survey Data</a:t>
            </a:r>
          </a:p>
          <a:p>
            <a:pPr marL="800100" lvl="1" indent="-342900">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N= 16,074 (analytic), 3,640 (observed).</a:t>
            </a:r>
          </a:p>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Variables</a:t>
            </a:r>
            <a:r>
              <a:rPr lang="en-US" sz="4000" u="none" strike="noStrike" spc="-59" dirty="0">
                <a:solidFill>
                  <a:srgbClr val="FFFFFF"/>
                </a:solidFill>
                <a:ea typeface="Open Sans 1"/>
                <a:cs typeface="Open Sans 1"/>
                <a:sym typeface="Open Sans 1"/>
              </a:rPr>
              <a:t>:</a:t>
            </a: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Exposure</a:t>
            </a:r>
            <a:r>
              <a:rPr lang="en-US" sz="4000" u="none" strike="noStrike" spc="-59" dirty="0">
                <a:solidFill>
                  <a:srgbClr val="FFFFFF"/>
                </a:solidFill>
                <a:ea typeface="Open Sans 1"/>
                <a:cs typeface="Open Sans 1"/>
                <a:sym typeface="Open Sans 1"/>
              </a:rPr>
              <a:t>: Sidewalks (yes/no)</a:t>
            </a: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Outcome</a:t>
            </a:r>
            <a:r>
              <a:rPr lang="en-US" sz="4000" u="none" strike="noStrike" spc="-59" dirty="0">
                <a:solidFill>
                  <a:srgbClr val="FFFFFF"/>
                </a:solidFill>
                <a:ea typeface="Open Sans 1"/>
                <a:cs typeface="Open Sans 1"/>
                <a:sym typeface="Open Sans 1"/>
              </a:rPr>
              <a:t>: Physical Activity (daily/non-daily)</a:t>
            </a: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Covariates</a:t>
            </a:r>
            <a:r>
              <a:rPr lang="en-US" sz="4000" u="none" strike="noStrike" spc="-59" dirty="0">
                <a:solidFill>
                  <a:srgbClr val="FFFFFF"/>
                </a:solidFill>
                <a:ea typeface="Open Sans 1"/>
                <a:cs typeface="Open Sans 1"/>
                <a:sym typeface="Open Sans 1"/>
              </a:rPr>
              <a:t>: Age group (Children, Adolescents</a:t>
            </a:r>
            <a:r>
              <a:rPr lang="en-US" sz="4000" u="none" strike="noStrike" spc="-59" baseline="30000" dirty="0">
                <a:solidFill>
                  <a:srgbClr val="FFFFFF"/>
                </a:solidFill>
                <a:ea typeface="Open Sans 1"/>
                <a:cs typeface="Open Sans 1"/>
                <a:sym typeface="Open Sans 1"/>
              </a:rPr>
              <a:t>)18-21</a:t>
            </a:r>
            <a:r>
              <a:rPr lang="en-US" sz="4000" u="none" strike="noStrike" spc="-59" dirty="0">
                <a:solidFill>
                  <a:srgbClr val="FFFFFF"/>
                </a:solidFill>
                <a:ea typeface="Open Sans 1"/>
                <a:cs typeface="Open Sans 1"/>
                <a:sym typeface="Open Sans 1"/>
              </a:rPr>
              <a:t>, Sex (Male/Female</a:t>
            </a:r>
            <a:r>
              <a:rPr lang="en-US" sz="4000" u="none" strike="noStrike" spc="-59" baseline="30000" dirty="0">
                <a:solidFill>
                  <a:srgbClr val="FFFFFF"/>
                </a:solidFill>
                <a:ea typeface="Open Sans 1"/>
                <a:cs typeface="Open Sans 1"/>
                <a:sym typeface="Open Sans 1"/>
              </a:rPr>
              <a:t>)18-21</a:t>
            </a:r>
            <a:r>
              <a:rPr lang="en-US" sz="4000" u="none" strike="noStrike" spc="-59" dirty="0">
                <a:solidFill>
                  <a:srgbClr val="FFFFFF"/>
                </a:solidFill>
                <a:ea typeface="Open Sans 1"/>
                <a:cs typeface="Open Sans 1"/>
                <a:sym typeface="Open Sans 1"/>
              </a:rPr>
              <a:t>, Adverse Childhood Experiences (ACEs)</a:t>
            </a:r>
            <a:r>
              <a:rPr lang="en-US" sz="4000" u="none" strike="noStrike" spc="-59" baseline="30000" dirty="0">
                <a:solidFill>
                  <a:srgbClr val="FFFFFF"/>
                </a:solidFill>
                <a:ea typeface="Open Sans 1"/>
                <a:cs typeface="Open Sans 1"/>
                <a:sym typeface="Open Sans 1"/>
              </a:rPr>
              <a:t>22-23</a:t>
            </a:r>
            <a:r>
              <a:rPr lang="en-US" sz="4000" u="none" strike="noStrike" spc="-59" dirty="0">
                <a:solidFill>
                  <a:srgbClr val="FFFFFF"/>
                </a:solidFill>
                <a:ea typeface="Open Sans 1"/>
                <a:cs typeface="Open Sans 1"/>
                <a:sym typeface="Open Sans 1"/>
              </a:rPr>
              <a:t> (None, One, Two or more), imputed Federal Poverty Level (FPL) (0–99%, 100–199%, 200–399%, and ≥400%)</a:t>
            </a:r>
            <a:r>
              <a:rPr lang="en-US" sz="4000" u="none" strike="noStrike" spc="-59" baseline="30000" dirty="0">
                <a:solidFill>
                  <a:srgbClr val="FFFFFF"/>
                </a:solidFill>
                <a:ea typeface="Open Sans 1"/>
                <a:cs typeface="Open Sans 1"/>
                <a:sym typeface="Open Sans 1"/>
              </a:rPr>
              <a:t>17,20-21</a:t>
            </a:r>
            <a:r>
              <a:rPr lang="en-US" sz="4000" u="none" strike="noStrike" spc="-59" dirty="0">
                <a:solidFill>
                  <a:srgbClr val="FFFFFF"/>
                </a:solidFill>
                <a:ea typeface="Open Sans 1"/>
                <a:cs typeface="Open Sans 1"/>
                <a:sym typeface="Open Sans 1"/>
              </a:rPr>
              <a:t>, Neighborhood safety (safe/unsafe</a:t>
            </a:r>
            <a:r>
              <a:rPr lang="en-US" sz="4000" u="none" strike="noStrike" spc="-59" baseline="30000" dirty="0">
                <a:solidFill>
                  <a:srgbClr val="FFFFFF"/>
                </a:solidFill>
                <a:ea typeface="Open Sans 1"/>
                <a:cs typeface="Open Sans 1"/>
                <a:sym typeface="Open Sans 1"/>
              </a:rPr>
              <a:t>)13,24</a:t>
            </a:r>
            <a:r>
              <a:rPr lang="en-US" sz="4000" u="none" strike="noStrike" spc="-59" dirty="0">
                <a:solidFill>
                  <a:srgbClr val="FFFFFF"/>
                </a:solidFill>
                <a:ea typeface="Open Sans 1"/>
                <a:cs typeface="Open Sans 1"/>
                <a:sym typeface="Open Sans 1"/>
              </a:rPr>
              <a:t> neighborhood detracting elements (detracting elements present/detracting elements not present)</a:t>
            </a:r>
            <a:r>
              <a:rPr lang="en-US" sz="4000" u="none" strike="noStrike" spc="-59" baseline="30000" dirty="0">
                <a:solidFill>
                  <a:srgbClr val="FFFFFF"/>
                </a:solidFill>
                <a:ea typeface="Open Sans 1"/>
                <a:cs typeface="Open Sans 1"/>
                <a:sym typeface="Open Sans 1"/>
              </a:rPr>
              <a:t>13,24</a:t>
            </a:r>
            <a:endParaRPr lang="en-US" sz="4000" u="none" strike="noStrike" spc="-59" dirty="0">
              <a:solidFill>
                <a:srgbClr val="FFFFFF"/>
              </a:solidFill>
              <a:ea typeface="Open Sans 1"/>
              <a:cs typeface="Open Sans 1"/>
              <a:sym typeface="Open Sans 1"/>
            </a:endParaRP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Missing indicator variables </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extLst>
      <p:ext uri="{BB962C8B-B14F-4D97-AF65-F5344CB8AC3E}">
        <p14:creationId xmlns:p14="http://schemas.microsoft.com/office/powerpoint/2010/main" val="1373725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0843-E283-04F7-3EDA-30088FA6FF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BB4A777-307D-219E-AC68-3F614DD42656}"/>
              </a:ext>
            </a:extLst>
          </p:cNvPr>
          <p:cNvSpPr/>
          <p:nvPr/>
        </p:nvSpPr>
        <p:spPr>
          <a:xfrm>
            <a:off x="-76200" y="-9747"/>
            <a:ext cx="183642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dirty="0"/>
          </a:p>
        </p:txBody>
      </p:sp>
      <p:sp>
        <p:nvSpPr>
          <p:cNvPr id="3" name="AutoShape 3">
            <a:extLst>
              <a:ext uri="{FF2B5EF4-FFF2-40B4-BE49-F238E27FC236}">
                <a16:creationId xmlns:a16="http://schemas.microsoft.com/office/drawing/2014/main" id="{7B6C5B68-0B07-D592-1029-FFD0A55AB809}"/>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EE43556D-3D60-5E96-94CE-3B22801C0388}"/>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Methods </a:t>
            </a:r>
          </a:p>
        </p:txBody>
      </p:sp>
      <p:sp>
        <p:nvSpPr>
          <p:cNvPr id="9" name="TextBox 9">
            <a:extLst>
              <a:ext uri="{FF2B5EF4-FFF2-40B4-BE49-F238E27FC236}">
                <a16:creationId xmlns:a16="http://schemas.microsoft.com/office/drawing/2014/main" id="{2C71B668-4409-0779-4962-2EC7E0ADDDC0}"/>
              </a:ext>
            </a:extLst>
          </p:cNvPr>
          <p:cNvSpPr txBox="1"/>
          <p:nvPr/>
        </p:nvSpPr>
        <p:spPr>
          <a:xfrm>
            <a:off x="1295400" y="2039679"/>
            <a:ext cx="15544800" cy="10476073"/>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Descriptive statistics:</a:t>
            </a:r>
            <a:r>
              <a:rPr lang="en-US" sz="4000" strike="noStrike" spc="-59" dirty="0">
                <a:solidFill>
                  <a:srgbClr val="FFFFFF"/>
                </a:solidFill>
                <a:ea typeface="Open Sans 1"/>
                <a:cs typeface="Open Sans 1"/>
                <a:sym typeface="Open Sans 1"/>
              </a:rPr>
              <a:t> unweighted frequencies, and survey-weighted percentages of participant characteristics </a:t>
            </a:r>
          </a:p>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Survey-weighted logistic regression models, </a:t>
            </a:r>
            <a:r>
              <a:rPr lang="en-US" sz="4000" strike="noStrike" spc="-59" dirty="0">
                <a:solidFill>
                  <a:srgbClr val="FFFFFF"/>
                </a:solidFill>
                <a:ea typeface="Open Sans 1"/>
                <a:cs typeface="Open Sans 1"/>
                <a:sym typeface="Open Sans 1"/>
              </a:rPr>
              <a:t>complex-survey design</a:t>
            </a: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Models:</a:t>
            </a:r>
            <a:r>
              <a:rPr lang="en-US" sz="4000" strike="noStrike" spc="-59" dirty="0">
                <a:solidFill>
                  <a:srgbClr val="FFFFFF"/>
                </a:solidFill>
                <a:ea typeface="Open Sans 1"/>
                <a:cs typeface="Open Sans 1"/>
                <a:sym typeface="Open Sans 1"/>
              </a:rPr>
              <a:t> crude, adjusted for demographic variables, FPL, and ACEs, and fully adjusted</a:t>
            </a:r>
          </a:p>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Sensitivity analyses with missing indicator variables, </a:t>
            </a:r>
            <a:r>
              <a:rPr lang="en-US" sz="4000" strike="noStrike" spc="-59" dirty="0">
                <a:solidFill>
                  <a:srgbClr val="FFFFFF"/>
                </a:solidFill>
                <a:ea typeface="Open Sans 1"/>
                <a:cs typeface="Open Sans 1"/>
                <a:sym typeface="Open Sans 1"/>
              </a:rPr>
              <a:t>complex-survey design</a:t>
            </a: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Models: </a:t>
            </a:r>
            <a:r>
              <a:rPr lang="en-US" sz="4000" strike="noStrike" spc="-59" dirty="0">
                <a:solidFill>
                  <a:srgbClr val="FFFFFF"/>
                </a:solidFill>
                <a:ea typeface="Open Sans 1"/>
                <a:cs typeface="Open Sans 1"/>
                <a:sym typeface="Open Sans 1"/>
              </a:rPr>
              <a:t>crude, adjusted for demographic variables, FPL, and ACEs, and fully adjusted</a:t>
            </a:r>
          </a:p>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Effect Measure Modification on the multiplicative scale,</a:t>
            </a:r>
            <a:r>
              <a:rPr lang="en-US" sz="4000" b="1" strike="noStrike" spc="-59" dirty="0">
                <a:solidFill>
                  <a:srgbClr val="FFFFFF"/>
                </a:solidFill>
                <a:ea typeface="Open Sans 1"/>
                <a:cs typeface="Open Sans 1"/>
                <a:sym typeface="Open Sans 1"/>
              </a:rPr>
              <a:t> complex-survey design</a:t>
            </a:r>
          </a:p>
          <a:p>
            <a:pPr marL="800100" lvl="1"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Models: </a:t>
            </a:r>
            <a:r>
              <a:rPr lang="en-US" sz="4000" strike="noStrike" spc="-59" dirty="0">
                <a:solidFill>
                  <a:srgbClr val="FFFFFF"/>
                </a:solidFill>
                <a:ea typeface="Open Sans 1"/>
                <a:cs typeface="Open Sans 1"/>
                <a:sym typeface="Open Sans 1"/>
              </a:rPr>
              <a:t>Neighborhood safety, neighborhood detracting elements</a:t>
            </a:r>
          </a:p>
          <a:p>
            <a:pPr marL="342900" indent="-342900">
              <a:spcBef>
                <a:spcPct val="0"/>
              </a:spcBef>
              <a:buFont typeface="Arial" panose="020B0604020202020204" pitchFamily="34" charset="0"/>
              <a:buChar char="•"/>
            </a:pPr>
            <a:r>
              <a:rPr lang="en-US" sz="4000" strike="noStrike" spc="-59" dirty="0">
                <a:solidFill>
                  <a:srgbClr val="FFFFFF"/>
                </a:solidFill>
                <a:ea typeface="Open Sans 1"/>
                <a:cs typeface="Open Sans 1"/>
                <a:sym typeface="Open Sans 1"/>
              </a:rPr>
              <a:t>SAS Studio OnDemand for Academics (SAS Institute Inc., Cary, NC).</a:t>
            </a:r>
          </a:p>
          <a:p>
            <a:pPr marL="342900" lvl="0" indent="-342900" algn="l">
              <a:spcBef>
                <a:spcPct val="0"/>
              </a:spcBef>
              <a:buFont typeface="Arial" panose="020B0604020202020204" pitchFamily="34" charset="0"/>
              <a:buChar char="•"/>
            </a:pPr>
            <a:endParaRPr lang="en-US" sz="4000" b="1" u="sng"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extLst>
      <p:ext uri="{BB962C8B-B14F-4D97-AF65-F5344CB8AC3E}">
        <p14:creationId xmlns:p14="http://schemas.microsoft.com/office/powerpoint/2010/main" val="1969127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TextBox 5"/>
          <p:cNvSpPr txBox="1"/>
          <p:nvPr/>
        </p:nvSpPr>
        <p:spPr>
          <a:xfrm>
            <a:off x="1053281" y="328043"/>
            <a:ext cx="7413928" cy="1269578"/>
          </a:xfrm>
          <a:prstGeom prst="rect">
            <a:avLst/>
          </a:prstGeom>
        </p:spPr>
        <p:txBody>
          <a:bodyPr lIns="0" tIns="0" rIns="0" bIns="0" rtlCol="0" anchor="t">
            <a:spAutoFit/>
          </a:bodyPr>
          <a:lstStyle/>
          <a:p>
            <a:pPr marL="0" lvl="0" indent="0" algn="l">
              <a:lnSpc>
                <a:spcPts val="9880"/>
              </a:lnSpc>
            </a:pPr>
            <a:r>
              <a:rPr lang="en-US" sz="9064" b="1" spc="-589" dirty="0">
                <a:solidFill>
                  <a:srgbClr val="FFFFFF"/>
                </a:solidFill>
                <a:latin typeface="Open Sauce Bold"/>
                <a:ea typeface="Open Sauce Bold"/>
                <a:cs typeface="Open Sauce Bold"/>
                <a:sym typeface="Open Sauce Bold"/>
              </a:rPr>
              <a:t>Results</a:t>
            </a:r>
          </a:p>
        </p:txBody>
      </p:sp>
      <p:sp>
        <p:nvSpPr>
          <p:cNvPr id="6" name="TextBox 6"/>
          <p:cNvSpPr txBox="1"/>
          <p:nvPr/>
        </p:nvSpPr>
        <p:spPr>
          <a:xfrm>
            <a:off x="1140494" y="2791000"/>
            <a:ext cx="8176081" cy="3693319"/>
          </a:xfrm>
          <a:prstGeom prst="rect">
            <a:avLst/>
          </a:prstGeom>
        </p:spPr>
        <p:txBody>
          <a:bodyPr lIns="0" tIns="0" rIns="0" bIns="0" rtlCol="0" anchor="t">
            <a:spAutoFit/>
          </a:bodyPr>
          <a:lstStyle/>
          <a:p>
            <a:pPr marL="285750" indent="-285750">
              <a:buFont typeface="Arial" panose="020B0604020202020204" pitchFamily="34" charset="0"/>
              <a:buChar char="•"/>
            </a:pPr>
            <a:r>
              <a:rPr lang="en-US" sz="4000" dirty="0">
                <a:solidFill>
                  <a:schemeClr val="bg1"/>
                </a:solidFill>
              </a:rPr>
              <a:t>77.08% reported a sidewalk </a:t>
            </a:r>
          </a:p>
          <a:p>
            <a:pPr marL="285750" indent="-285750">
              <a:buFont typeface="Arial" panose="020B0604020202020204" pitchFamily="34" charset="0"/>
              <a:buChar char="•"/>
            </a:pPr>
            <a:r>
              <a:rPr lang="en-US" sz="4000" dirty="0">
                <a:solidFill>
                  <a:schemeClr val="bg1"/>
                </a:solidFill>
              </a:rPr>
              <a:t>Missing data across all covariates ranged from 0.00% to 3.83%</a:t>
            </a:r>
          </a:p>
          <a:p>
            <a:pPr marL="285750" indent="-285750">
              <a:buFont typeface="Arial" panose="020B0604020202020204" pitchFamily="34" charset="0"/>
              <a:buChar char="•"/>
            </a:pPr>
            <a:r>
              <a:rPr lang="en-US" sz="4000" dirty="0">
                <a:solidFill>
                  <a:schemeClr val="bg1"/>
                </a:solidFill>
              </a:rPr>
              <a:t>Adolescents (12-17 years), and males represented the largest proportions reporting sidewalks </a:t>
            </a:r>
          </a:p>
        </p:txBody>
      </p:sp>
      <p:sp>
        <p:nvSpPr>
          <p:cNvPr id="7" name="AutoShape 7"/>
          <p:cNvSpPr/>
          <p:nvPr/>
        </p:nvSpPr>
        <p:spPr>
          <a:xfrm>
            <a:off x="1133120" y="6816256"/>
            <a:ext cx="8156853" cy="0"/>
          </a:xfrm>
          <a:prstGeom prst="line">
            <a:avLst/>
          </a:prstGeom>
          <a:ln w="19050" cap="flat">
            <a:solidFill>
              <a:srgbClr val="FFFFFF"/>
            </a:solidFill>
            <a:prstDash val="solid"/>
            <a:headEnd type="none" w="sm" len="sm"/>
            <a:tailEnd type="none" w="sm" len="sm"/>
          </a:ln>
        </p:spPr>
        <p:txBody>
          <a:bodyPr/>
          <a:lstStyle/>
          <a:p>
            <a:endParaRPr lang="en-US"/>
          </a:p>
        </p:txBody>
      </p:sp>
      <p:pic>
        <p:nvPicPr>
          <p:cNvPr id="14" name="Picture 13" descr="A table of numbers and text&#10;&#10;AI-generated content may be incorrect.">
            <a:extLst>
              <a:ext uri="{FF2B5EF4-FFF2-40B4-BE49-F238E27FC236}">
                <a16:creationId xmlns:a16="http://schemas.microsoft.com/office/drawing/2014/main" id="{87345B7F-8C02-9248-0334-7546AD997C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0467" y="1949924"/>
            <a:ext cx="6828833" cy="79825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975C7-2123-CE99-5083-D2994BE3B4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933916-660B-94C3-32DC-83892D69793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a:extLst>
              <a:ext uri="{FF2B5EF4-FFF2-40B4-BE49-F238E27FC236}">
                <a16:creationId xmlns:a16="http://schemas.microsoft.com/office/drawing/2014/main" id="{4D5A05E5-0E40-C50B-3EFA-6B2AB7DA7B14}"/>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5" name="TextBox 5">
            <a:extLst>
              <a:ext uri="{FF2B5EF4-FFF2-40B4-BE49-F238E27FC236}">
                <a16:creationId xmlns:a16="http://schemas.microsoft.com/office/drawing/2014/main" id="{5E22BF49-887A-E695-3257-410215080140}"/>
              </a:ext>
            </a:extLst>
          </p:cNvPr>
          <p:cNvSpPr txBox="1"/>
          <p:nvPr/>
        </p:nvSpPr>
        <p:spPr>
          <a:xfrm>
            <a:off x="1053281" y="328043"/>
            <a:ext cx="7413928" cy="1269578"/>
          </a:xfrm>
          <a:prstGeom prst="rect">
            <a:avLst/>
          </a:prstGeom>
        </p:spPr>
        <p:txBody>
          <a:bodyPr lIns="0" tIns="0" rIns="0" bIns="0" rtlCol="0" anchor="t">
            <a:spAutoFit/>
          </a:bodyPr>
          <a:lstStyle/>
          <a:p>
            <a:pPr marL="0" lvl="0" indent="0" algn="l">
              <a:lnSpc>
                <a:spcPts val="9880"/>
              </a:lnSpc>
            </a:pPr>
            <a:r>
              <a:rPr lang="en-US" sz="9064" b="1" spc="-589" dirty="0">
                <a:solidFill>
                  <a:srgbClr val="FFFFFF"/>
                </a:solidFill>
                <a:latin typeface="Open Sauce Bold"/>
                <a:ea typeface="Open Sauce Bold"/>
                <a:cs typeface="Open Sauce Bold"/>
                <a:sym typeface="Open Sauce Bold"/>
              </a:rPr>
              <a:t>Results</a:t>
            </a:r>
          </a:p>
        </p:txBody>
      </p:sp>
      <p:sp>
        <p:nvSpPr>
          <p:cNvPr id="6" name="TextBox 6">
            <a:extLst>
              <a:ext uri="{FF2B5EF4-FFF2-40B4-BE49-F238E27FC236}">
                <a16:creationId xmlns:a16="http://schemas.microsoft.com/office/drawing/2014/main" id="{9BD5ED00-45A5-C18C-8F1F-90719D83AD68}"/>
              </a:ext>
            </a:extLst>
          </p:cNvPr>
          <p:cNvSpPr txBox="1"/>
          <p:nvPr/>
        </p:nvSpPr>
        <p:spPr>
          <a:xfrm>
            <a:off x="1173927" y="2030048"/>
            <a:ext cx="7783291" cy="6155531"/>
          </a:xfrm>
          <a:prstGeom prst="rect">
            <a:avLst/>
          </a:prstGeom>
        </p:spPr>
        <p:txBody>
          <a:bodyPr wrap="square" lIns="0" tIns="0" rIns="0" bIns="0" rtlCol="0" anchor="t">
            <a:spAutoFit/>
          </a:bodyPr>
          <a:lstStyle/>
          <a:p>
            <a:pPr marL="285750" indent="-285750">
              <a:buFont typeface="Arial" panose="020B0604020202020204" pitchFamily="34" charset="0"/>
              <a:buChar char="•"/>
            </a:pPr>
            <a:r>
              <a:rPr lang="en-US" sz="4000" dirty="0">
                <a:solidFill>
                  <a:schemeClr val="bg1"/>
                </a:solidFill>
              </a:rPr>
              <a:t>No statistically significant associations across all analyses, and models. All confidence intervals overlapped with the null value (OR=1)</a:t>
            </a:r>
          </a:p>
          <a:p>
            <a:pPr marL="285750" indent="-285750">
              <a:buFont typeface="Arial" panose="020B0604020202020204" pitchFamily="34" charset="0"/>
              <a:buChar char="•"/>
            </a:pPr>
            <a:endParaRPr lang="en-US" sz="4000" dirty="0">
              <a:solidFill>
                <a:schemeClr val="bg1"/>
              </a:solidFill>
            </a:endParaRPr>
          </a:p>
          <a:p>
            <a:pPr marL="285750" indent="-285750">
              <a:buFont typeface="Arial" panose="020B0604020202020204" pitchFamily="34" charset="0"/>
              <a:buChar char="•"/>
            </a:pPr>
            <a:r>
              <a:rPr lang="en-US" sz="4000" dirty="0">
                <a:solidFill>
                  <a:schemeClr val="bg1"/>
                </a:solidFill>
              </a:rPr>
              <a:t>Crude model suggests lower odds of physical activity. Yet fully adjusted model suggest a higher odds of physical activity.</a:t>
            </a:r>
          </a:p>
        </p:txBody>
      </p:sp>
      <p:sp>
        <p:nvSpPr>
          <p:cNvPr id="7" name="AutoShape 7">
            <a:extLst>
              <a:ext uri="{FF2B5EF4-FFF2-40B4-BE49-F238E27FC236}">
                <a16:creationId xmlns:a16="http://schemas.microsoft.com/office/drawing/2014/main" id="{14E4E09D-599B-1CA5-75F1-4BD0A37AF8AB}"/>
              </a:ext>
            </a:extLst>
          </p:cNvPr>
          <p:cNvSpPr/>
          <p:nvPr/>
        </p:nvSpPr>
        <p:spPr>
          <a:xfrm>
            <a:off x="987147" y="8343900"/>
            <a:ext cx="8156853" cy="0"/>
          </a:xfrm>
          <a:prstGeom prst="line">
            <a:avLst/>
          </a:prstGeom>
          <a:ln w="19050" cap="flat">
            <a:solidFill>
              <a:srgbClr val="FFFFFF"/>
            </a:solidFill>
            <a:prstDash val="solid"/>
            <a:headEnd type="none" w="sm" len="sm"/>
            <a:tailEnd type="none" w="sm" len="sm"/>
          </a:ln>
        </p:spPr>
        <p:txBody>
          <a:bodyPr/>
          <a:lstStyle/>
          <a:p>
            <a:endParaRPr lang="en-US"/>
          </a:p>
        </p:txBody>
      </p:sp>
      <p:pic>
        <p:nvPicPr>
          <p:cNvPr id="8" name="Picture 7" descr="A screenshot of a table&#10;&#10;AI-generated content may be incorrect.">
            <a:extLst>
              <a:ext uri="{FF2B5EF4-FFF2-40B4-BE49-F238E27FC236}">
                <a16:creationId xmlns:a16="http://schemas.microsoft.com/office/drawing/2014/main" id="{7211E907-30EE-FC86-C376-46C0272FBA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8550" y="3120272"/>
            <a:ext cx="7931790" cy="3300807"/>
          </a:xfrm>
          <a:prstGeom prst="rect">
            <a:avLst/>
          </a:prstGeom>
        </p:spPr>
      </p:pic>
    </p:spTree>
    <p:extLst>
      <p:ext uri="{BB962C8B-B14F-4D97-AF65-F5344CB8AC3E}">
        <p14:creationId xmlns:p14="http://schemas.microsoft.com/office/powerpoint/2010/main" val="321641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00C96-393D-051F-E198-B2BADD2F08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CF3D84-0280-7761-6248-A69006EE0BD8}"/>
              </a:ext>
            </a:extLst>
          </p:cNvPr>
          <p:cNvSpPr/>
          <p:nvPr/>
        </p:nvSpPr>
        <p:spPr>
          <a:xfrm>
            <a:off x="0" y="0"/>
            <a:ext cx="18288000" cy="10410444"/>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dirty="0"/>
          </a:p>
        </p:txBody>
      </p:sp>
      <p:sp>
        <p:nvSpPr>
          <p:cNvPr id="3" name="AutoShape 3">
            <a:extLst>
              <a:ext uri="{FF2B5EF4-FFF2-40B4-BE49-F238E27FC236}">
                <a16:creationId xmlns:a16="http://schemas.microsoft.com/office/drawing/2014/main" id="{C33F585C-988E-17DD-8FBB-CDB56B6A2123}"/>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38365B22-1033-BBA5-EAD9-FF3BE5671353}"/>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Discussion </a:t>
            </a:r>
          </a:p>
        </p:txBody>
      </p:sp>
      <p:sp>
        <p:nvSpPr>
          <p:cNvPr id="9" name="TextBox 9">
            <a:extLst>
              <a:ext uri="{FF2B5EF4-FFF2-40B4-BE49-F238E27FC236}">
                <a16:creationId xmlns:a16="http://schemas.microsoft.com/office/drawing/2014/main" id="{3D32B2D5-0744-842E-00E9-CE9B39A18480}"/>
              </a:ext>
            </a:extLst>
          </p:cNvPr>
          <p:cNvSpPr txBox="1"/>
          <p:nvPr/>
        </p:nvSpPr>
        <p:spPr>
          <a:xfrm>
            <a:off x="1295400" y="2226309"/>
            <a:ext cx="15544800" cy="9244967"/>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4000" spc="-59" dirty="0">
                <a:solidFill>
                  <a:srgbClr val="FFFFFF"/>
                </a:solidFill>
                <a:ea typeface="Open Sans 1"/>
                <a:cs typeface="Open Sans 1"/>
                <a:sym typeface="Open Sans 1"/>
              </a:rPr>
              <a:t>Previous research suggests a broader interplay of neighborhood conditions.</a:t>
            </a:r>
            <a:r>
              <a:rPr lang="en-US" sz="4000" spc="-59" baseline="30000" dirty="0">
                <a:solidFill>
                  <a:srgbClr val="FFFFFF"/>
                </a:solidFill>
                <a:ea typeface="Open Sans 1"/>
                <a:cs typeface="Open Sans 1"/>
                <a:sym typeface="Open Sans 1"/>
              </a:rPr>
              <a:t>10,25,26</a:t>
            </a:r>
          </a:p>
          <a:p>
            <a:pPr marL="342900" lvl="0" indent="-342900" algn="l">
              <a:spcBef>
                <a:spcPct val="0"/>
              </a:spcBef>
              <a:buFont typeface="Arial" panose="020B0604020202020204" pitchFamily="34" charset="0"/>
              <a:buChar char="•"/>
            </a:pPr>
            <a:r>
              <a:rPr lang="en-US" sz="4000" spc="-59" dirty="0">
                <a:solidFill>
                  <a:srgbClr val="FFFFFF"/>
                </a:solidFill>
                <a:ea typeface="Open Sans 1"/>
                <a:cs typeface="Open Sans 1"/>
                <a:sym typeface="Open Sans 1"/>
              </a:rPr>
              <a:t>Consistent with similar studies using NSCH data. </a:t>
            </a:r>
            <a:r>
              <a:rPr lang="en-US" sz="4000" spc="-59" baseline="30000" dirty="0">
                <a:solidFill>
                  <a:srgbClr val="FFFFFF"/>
                </a:solidFill>
                <a:ea typeface="Open Sans 1"/>
                <a:cs typeface="Open Sans 1"/>
                <a:sym typeface="Open Sans 1"/>
              </a:rPr>
              <a:t>27</a:t>
            </a:r>
            <a:endParaRPr lang="en-US" sz="4000"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Strengths: </a:t>
            </a:r>
          </a:p>
          <a:p>
            <a:pPr marL="800100" lvl="1" indent="-342900">
              <a:spcBef>
                <a:spcPct val="0"/>
              </a:spcBef>
              <a:buFont typeface="Arial" panose="020B0604020202020204" pitchFamily="34" charset="0"/>
              <a:buChar char="•"/>
            </a:pPr>
            <a:r>
              <a:rPr lang="en-US" sz="4000" strike="noStrike" spc="-59" dirty="0">
                <a:solidFill>
                  <a:srgbClr val="FFFFFF"/>
                </a:solidFill>
                <a:ea typeface="Open Sans 1"/>
                <a:cs typeface="Open Sans 1"/>
                <a:sym typeface="Open Sans 1"/>
              </a:rPr>
              <a:t>Large nationally </a:t>
            </a:r>
            <a:r>
              <a:rPr lang="en-US" sz="4000" spc="-59" dirty="0">
                <a:solidFill>
                  <a:srgbClr val="FFFFFF"/>
                </a:solidFill>
                <a:ea typeface="Open Sans 1"/>
                <a:cs typeface="Open Sans 1"/>
                <a:sym typeface="Open Sans 1"/>
              </a:rPr>
              <a:t>representative sample </a:t>
            </a:r>
          </a:p>
          <a:p>
            <a:pPr marL="800100" lvl="1" indent="-342900">
              <a:spcBef>
                <a:spcPct val="0"/>
              </a:spcBef>
              <a:buFont typeface="Arial" panose="020B0604020202020204" pitchFamily="34" charset="0"/>
              <a:buChar char="•"/>
            </a:pPr>
            <a:r>
              <a:rPr lang="en-US" sz="4000" spc="-59" dirty="0">
                <a:solidFill>
                  <a:srgbClr val="FFFFFF"/>
                </a:solidFill>
                <a:ea typeface="Open Sans 1"/>
                <a:cs typeface="Open Sans 1"/>
                <a:sym typeface="Open Sans 1"/>
              </a:rPr>
              <a:t>Population: Children with asthma</a:t>
            </a:r>
            <a:r>
              <a:rPr lang="en-US" sz="4000" strike="noStrike" spc="-59" dirty="0">
                <a:solidFill>
                  <a:srgbClr val="FFFFFF"/>
                </a:solidFill>
                <a:ea typeface="Open Sans 1"/>
                <a:cs typeface="Open Sans 1"/>
                <a:sym typeface="Open Sans 1"/>
              </a:rPr>
              <a:t> </a:t>
            </a:r>
          </a:p>
          <a:p>
            <a:pPr marL="800100" lvl="1" indent="-342900">
              <a:spcBef>
                <a:spcPct val="0"/>
              </a:spcBef>
              <a:buFont typeface="Arial" panose="020B0604020202020204" pitchFamily="34" charset="0"/>
              <a:buChar char="•"/>
            </a:pPr>
            <a:r>
              <a:rPr lang="en-US" sz="4000" spc="-59" dirty="0">
                <a:solidFill>
                  <a:srgbClr val="FFFFFF"/>
                </a:solidFill>
                <a:ea typeface="Open Sans 1"/>
                <a:cs typeface="Open Sans 1"/>
                <a:sym typeface="Open Sans 1"/>
              </a:rPr>
              <a:t>Accounted for various covariates such as sex and age</a:t>
            </a:r>
            <a:r>
              <a:rPr lang="en-US" sz="4000" spc="-59" baseline="30000" dirty="0">
                <a:solidFill>
                  <a:srgbClr val="FFFFFF"/>
                </a:solidFill>
                <a:ea typeface="Open Sans 1"/>
                <a:cs typeface="Open Sans 1"/>
                <a:sym typeface="Open Sans 1"/>
              </a:rPr>
              <a:t> 18-21, </a:t>
            </a:r>
            <a:r>
              <a:rPr lang="en-US" sz="4000" spc="-59" dirty="0">
                <a:solidFill>
                  <a:srgbClr val="FFFFFF"/>
                </a:solidFill>
                <a:ea typeface="Open Sans 1"/>
                <a:cs typeface="Open Sans 1"/>
                <a:sym typeface="Open Sans 1"/>
              </a:rPr>
              <a:t>FPL</a:t>
            </a:r>
            <a:r>
              <a:rPr lang="en-US" sz="4000" spc="-59" baseline="30000" dirty="0">
                <a:solidFill>
                  <a:srgbClr val="FFFFFF"/>
                </a:solidFill>
                <a:ea typeface="Open Sans 1"/>
                <a:cs typeface="Open Sans 1"/>
                <a:sym typeface="Open Sans 1"/>
              </a:rPr>
              <a:t>20-21</a:t>
            </a:r>
            <a:r>
              <a:rPr lang="en-US" sz="4000" spc="-59" dirty="0">
                <a:solidFill>
                  <a:srgbClr val="FFFFFF"/>
                </a:solidFill>
                <a:ea typeface="Open Sans 1"/>
                <a:cs typeface="Open Sans 1"/>
                <a:sym typeface="Open Sans 1"/>
              </a:rPr>
              <a:t>,ACEs</a:t>
            </a:r>
            <a:r>
              <a:rPr lang="en-US" sz="4000" spc="-59" baseline="30000" dirty="0">
                <a:solidFill>
                  <a:srgbClr val="FFFFFF"/>
                </a:solidFill>
                <a:ea typeface="Open Sans 1"/>
                <a:cs typeface="Open Sans 1"/>
                <a:sym typeface="Open Sans 1"/>
              </a:rPr>
              <a:t>22-23, </a:t>
            </a:r>
            <a:r>
              <a:rPr lang="en-US" sz="4000" spc="-59" dirty="0">
                <a:solidFill>
                  <a:srgbClr val="FFFFFF"/>
                </a:solidFill>
                <a:ea typeface="Open Sans 1"/>
                <a:cs typeface="Open Sans 1"/>
                <a:sym typeface="Open Sans 1"/>
              </a:rPr>
              <a:t>safety</a:t>
            </a:r>
            <a:r>
              <a:rPr lang="en-US" sz="4000" spc="-59" baseline="30000" dirty="0">
                <a:solidFill>
                  <a:srgbClr val="FFFFFF"/>
                </a:solidFill>
                <a:ea typeface="Open Sans 1"/>
                <a:cs typeface="Open Sans 1"/>
                <a:sym typeface="Open Sans 1"/>
              </a:rPr>
              <a:t>13,24</a:t>
            </a:r>
            <a:r>
              <a:rPr lang="en-US" sz="4000" spc="-59" dirty="0">
                <a:solidFill>
                  <a:srgbClr val="FFFFFF"/>
                </a:solidFill>
                <a:ea typeface="Open Sans 1"/>
                <a:cs typeface="Open Sans 1"/>
                <a:sym typeface="Open Sans 1"/>
              </a:rPr>
              <a:t>,and neighborhood detracting elements.</a:t>
            </a:r>
            <a:r>
              <a:rPr lang="en-US" sz="4000" spc="-59" baseline="30000" dirty="0">
                <a:solidFill>
                  <a:srgbClr val="FFFFFF"/>
                </a:solidFill>
                <a:ea typeface="Open Sans 1"/>
                <a:cs typeface="Open Sans 1"/>
                <a:sym typeface="Open Sans 1"/>
              </a:rPr>
              <a:t>13,24</a:t>
            </a:r>
            <a:endParaRPr lang="en-US" sz="4000" spc="-59" dirty="0">
              <a:solidFill>
                <a:srgbClr val="FFFFFF"/>
              </a:solidFill>
              <a:ea typeface="Open Sans 1"/>
              <a:cs typeface="Open Sans 1"/>
              <a:sym typeface="Open Sans 1"/>
            </a:endParaRPr>
          </a:p>
          <a:p>
            <a:pPr marL="342900"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Limitations:</a:t>
            </a:r>
          </a:p>
          <a:p>
            <a:pPr marL="800100" lvl="1" indent="-342900">
              <a:spcBef>
                <a:spcPct val="0"/>
              </a:spcBef>
              <a:buFont typeface="Arial" panose="020B0604020202020204" pitchFamily="34" charset="0"/>
              <a:buChar char="•"/>
            </a:pPr>
            <a:r>
              <a:rPr lang="en-US" sz="4000" spc="-59" dirty="0">
                <a:solidFill>
                  <a:srgbClr val="FFFFFF"/>
                </a:solidFill>
                <a:ea typeface="Open Sans 1"/>
                <a:cs typeface="Open Sans 1"/>
                <a:sym typeface="Open Sans 1"/>
              </a:rPr>
              <a:t>Parent-reported survey data.</a:t>
            </a:r>
            <a:r>
              <a:rPr lang="en-US" sz="4000" spc="-59" baseline="30000" dirty="0">
                <a:solidFill>
                  <a:srgbClr val="FFFFFF"/>
                </a:solidFill>
                <a:ea typeface="Open Sans 1"/>
                <a:cs typeface="Open Sans 1"/>
                <a:sym typeface="Open Sans 1"/>
              </a:rPr>
              <a:t>27</a:t>
            </a:r>
            <a:endParaRPr lang="en-US" sz="4000" spc="-59" dirty="0">
              <a:solidFill>
                <a:srgbClr val="FFFFFF"/>
              </a:solidFill>
              <a:ea typeface="Open Sans 1"/>
              <a:cs typeface="Open Sans 1"/>
              <a:sym typeface="Open Sans 1"/>
            </a:endParaRPr>
          </a:p>
          <a:p>
            <a:pPr marL="800100" lvl="1" indent="-342900">
              <a:spcBef>
                <a:spcPct val="0"/>
              </a:spcBef>
              <a:buFont typeface="Arial" panose="020B0604020202020204" pitchFamily="34" charset="0"/>
              <a:buChar char="•"/>
            </a:pPr>
            <a:r>
              <a:rPr lang="en-US" sz="4000" strike="noStrike" spc="-59" dirty="0">
                <a:solidFill>
                  <a:srgbClr val="FFFFFF"/>
                </a:solidFill>
                <a:ea typeface="Open Sans 1"/>
                <a:cs typeface="Open Sans 1"/>
                <a:sym typeface="Open Sans 1"/>
              </a:rPr>
              <a:t>Lack of objective measures. </a:t>
            </a:r>
            <a:r>
              <a:rPr lang="en-US" sz="4000" strike="noStrike" spc="-59" baseline="30000" dirty="0">
                <a:solidFill>
                  <a:srgbClr val="FFFFFF"/>
                </a:solidFill>
                <a:ea typeface="Open Sans 1"/>
                <a:cs typeface="Open Sans 1"/>
                <a:sym typeface="Open Sans 1"/>
              </a:rPr>
              <a:t>11,14,16 25,26</a:t>
            </a:r>
            <a:endParaRPr lang="en-US" sz="4000" spc="-59" baseline="30000" dirty="0">
              <a:solidFill>
                <a:srgbClr val="FFFFFF"/>
              </a:solidFill>
              <a:ea typeface="Open Sans 1"/>
              <a:cs typeface="Open Sans 1"/>
              <a:sym typeface="Open Sans 1"/>
            </a:endParaRPr>
          </a:p>
          <a:p>
            <a:pPr marL="342900" indent="-342900">
              <a:spcBef>
                <a:spcPct val="0"/>
              </a:spcBef>
              <a:buFont typeface="Arial" panose="020B0604020202020204" pitchFamily="34" charset="0"/>
              <a:buChar char="•"/>
            </a:pPr>
            <a:r>
              <a:rPr lang="en-US" sz="4000" b="1" u="sng" strike="noStrike" spc="-59" dirty="0">
                <a:solidFill>
                  <a:srgbClr val="FFFFFF"/>
                </a:solidFill>
                <a:ea typeface="Open Sans 1"/>
                <a:cs typeface="Open Sans 1"/>
                <a:sym typeface="Open Sans 1"/>
              </a:rPr>
              <a:t>Future Research</a:t>
            </a:r>
            <a:r>
              <a:rPr lang="en-US" sz="4000" strike="noStrike" spc="-59" dirty="0">
                <a:solidFill>
                  <a:srgbClr val="FFFFFF"/>
                </a:solidFill>
                <a:ea typeface="Open Sans 1"/>
                <a:cs typeface="Open Sans 1"/>
                <a:sym typeface="Open Sans 1"/>
              </a:rPr>
              <a:t>: Needs more detailed and objective measures</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extLst>
      <p:ext uri="{BB962C8B-B14F-4D97-AF65-F5344CB8AC3E}">
        <p14:creationId xmlns:p14="http://schemas.microsoft.com/office/powerpoint/2010/main" val="330454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5A9DE-BC4F-A591-5D0C-98AD523975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B8B3B1-B335-EF5C-DB66-DF858CDFE1A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txBody>
          <a:bodyPr/>
          <a:lstStyle/>
          <a:p>
            <a:endParaRPr lang="en-US"/>
          </a:p>
        </p:txBody>
      </p:sp>
      <p:sp>
        <p:nvSpPr>
          <p:cNvPr id="3" name="AutoShape 3">
            <a:extLst>
              <a:ext uri="{FF2B5EF4-FFF2-40B4-BE49-F238E27FC236}">
                <a16:creationId xmlns:a16="http://schemas.microsoft.com/office/drawing/2014/main" id="{B06B4FF7-BCC9-7470-751A-E43795EC72E7}"/>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B4B29FF2-E880-47E3-5E99-4CA720D42915}"/>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Conclusion </a:t>
            </a:r>
          </a:p>
        </p:txBody>
      </p:sp>
      <p:sp>
        <p:nvSpPr>
          <p:cNvPr id="9" name="TextBox 9">
            <a:extLst>
              <a:ext uri="{FF2B5EF4-FFF2-40B4-BE49-F238E27FC236}">
                <a16:creationId xmlns:a16="http://schemas.microsoft.com/office/drawing/2014/main" id="{EE224552-D170-29EF-50DD-250045C711F4}"/>
              </a:ext>
            </a:extLst>
          </p:cNvPr>
          <p:cNvSpPr txBox="1"/>
          <p:nvPr/>
        </p:nvSpPr>
        <p:spPr>
          <a:xfrm>
            <a:off x="1295400" y="2830021"/>
            <a:ext cx="15544800" cy="5551648"/>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No evidence was found that reported sidewalks is significantly associated with daily physical activity among children with asthma </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Future research should focus on more detailed and objective measures </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Study highlights need for improved approaches for investigating this relationship  </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extLst>
      <p:ext uri="{BB962C8B-B14F-4D97-AF65-F5344CB8AC3E}">
        <p14:creationId xmlns:p14="http://schemas.microsoft.com/office/powerpoint/2010/main" val="3441349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67917-0B45-A01E-3F80-0CED9A68FF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7CAB2E-89FB-BF6B-77F9-5047B082180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dirty="0"/>
          </a:p>
        </p:txBody>
      </p:sp>
      <p:sp>
        <p:nvSpPr>
          <p:cNvPr id="3" name="AutoShape 3">
            <a:extLst>
              <a:ext uri="{FF2B5EF4-FFF2-40B4-BE49-F238E27FC236}">
                <a16:creationId xmlns:a16="http://schemas.microsoft.com/office/drawing/2014/main" id="{AB4A5E7C-DB48-DA97-9E02-F46EE3C686C8}"/>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DD78FBBA-26C7-791D-455A-C43321A1719A}"/>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References </a:t>
            </a:r>
          </a:p>
        </p:txBody>
      </p:sp>
      <p:sp>
        <p:nvSpPr>
          <p:cNvPr id="9" name="TextBox 9">
            <a:extLst>
              <a:ext uri="{FF2B5EF4-FFF2-40B4-BE49-F238E27FC236}">
                <a16:creationId xmlns:a16="http://schemas.microsoft.com/office/drawing/2014/main" id="{26C48E80-5C4F-4396-C6DA-431887DEDD98}"/>
              </a:ext>
            </a:extLst>
          </p:cNvPr>
          <p:cNvSpPr txBox="1"/>
          <p:nvPr/>
        </p:nvSpPr>
        <p:spPr>
          <a:xfrm>
            <a:off x="1295400" y="2830021"/>
            <a:ext cx="15544800" cy="1242776"/>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
        <p:nvSpPr>
          <p:cNvPr id="5" name="TextBox 4">
            <a:extLst>
              <a:ext uri="{FF2B5EF4-FFF2-40B4-BE49-F238E27FC236}">
                <a16:creationId xmlns:a16="http://schemas.microsoft.com/office/drawing/2014/main" id="{29FAF229-1334-7094-D419-45832092F9EA}"/>
              </a:ext>
            </a:extLst>
          </p:cNvPr>
          <p:cNvSpPr txBox="1"/>
          <p:nvPr/>
        </p:nvSpPr>
        <p:spPr>
          <a:xfrm>
            <a:off x="381000" y="1600694"/>
            <a:ext cx="17526000" cy="8802410"/>
          </a:xfrm>
          <a:prstGeom prst="rect">
            <a:avLst/>
          </a:prstGeom>
          <a:noFill/>
        </p:spPr>
        <p:txBody>
          <a:bodyPr wrap="square">
            <a:spAutoFit/>
          </a:bodyPr>
          <a:lstStyle/>
          <a:p>
            <a:r>
              <a:rPr lang="en-US" sz="2000" dirty="0">
                <a:solidFill>
                  <a:schemeClr val="bg1"/>
                </a:solidFill>
              </a:rPr>
              <a:t>1.	</a:t>
            </a:r>
            <a:r>
              <a:rPr lang="en-US" sz="1600" dirty="0" err="1">
                <a:solidFill>
                  <a:schemeClr val="bg1"/>
                </a:solidFill>
              </a:rPr>
              <a:t>Arubuolawe</a:t>
            </a:r>
            <a:r>
              <a:rPr lang="en-US" sz="1600" dirty="0">
                <a:solidFill>
                  <a:schemeClr val="bg1"/>
                </a:solidFill>
              </a:rPr>
              <a:t> OO, Gabriel OT, </a:t>
            </a:r>
            <a:r>
              <a:rPr lang="en-US" sz="1600" dirty="0" err="1">
                <a:solidFill>
                  <a:schemeClr val="bg1"/>
                </a:solidFill>
              </a:rPr>
              <a:t>Anats</a:t>
            </a:r>
            <a:r>
              <a:rPr lang="en-US" sz="1600" dirty="0">
                <a:solidFill>
                  <a:schemeClr val="bg1"/>
                </a:solidFill>
              </a:rPr>
              <a:t> CJ, et al. Demographic and Socioeconomic Disparities in Adolescent Obesity: Insights From the National Survey of Children's Health Database. </a:t>
            </a:r>
            <a:r>
              <a:rPr lang="en-US" sz="1600" dirty="0" err="1">
                <a:solidFill>
                  <a:schemeClr val="bg1"/>
                </a:solidFill>
              </a:rPr>
              <a:t>Cureus</a:t>
            </a:r>
            <a:r>
              <a:rPr lang="en-US" sz="1600" dirty="0">
                <a:solidFill>
                  <a:schemeClr val="bg1"/>
                </a:solidFill>
              </a:rPr>
              <a:t>. Oct 2024;16(10):e72150. doi:10.7759/cureus.72150</a:t>
            </a:r>
          </a:p>
          <a:p>
            <a:endParaRPr lang="en-US" sz="1600" dirty="0">
              <a:solidFill>
                <a:schemeClr val="bg1"/>
              </a:solidFill>
            </a:endParaRPr>
          </a:p>
          <a:p>
            <a:r>
              <a:rPr lang="en-US" sz="1600" dirty="0">
                <a:solidFill>
                  <a:schemeClr val="bg1"/>
                </a:solidFill>
              </a:rPr>
              <a:t>2.	Stratakis N, Garcia E, Chandran A, et al. The Role of Childhood Asthma in Obesity Development: A Nationwide US Multicohort Study. Epidemiology. Jan 1 2022;33(1):131-140. doi:10.1097/ede.0000000000001421</a:t>
            </a:r>
          </a:p>
          <a:p>
            <a:endParaRPr lang="en-US" sz="1600" dirty="0">
              <a:solidFill>
                <a:schemeClr val="bg1"/>
              </a:solidFill>
            </a:endParaRPr>
          </a:p>
          <a:p>
            <a:r>
              <a:rPr lang="en-US" sz="1600" dirty="0">
                <a:solidFill>
                  <a:schemeClr val="bg1"/>
                </a:solidFill>
              </a:rPr>
              <a:t>3.	Peters U, Dixon AE, Forno E. Obesity and asthma. J Allergy Clin Immunol. Apr 2018;141(4):1169-1179. doi:10.1016/j.jaci.2018.02.004</a:t>
            </a:r>
          </a:p>
          <a:p>
            <a:endParaRPr lang="en-US" sz="1600" dirty="0">
              <a:solidFill>
                <a:schemeClr val="bg1"/>
              </a:solidFill>
            </a:endParaRPr>
          </a:p>
          <a:p>
            <a:r>
              <a:rPr lang="en-US" sz="1600" dirty="0">
                <a:solidFill>
                  <a:schemeClr val="bg1"/>
                </a:solidFill>
              </a:rPr>
              <a:t>4.	</a:t>
            </a:r>
            <a:r>
              <a:rPr lang="en-US" sz="1600" dirty="0" err="1">
                <a:solidFill>
                  <a:schemeClr val="bg1"/>
                </a:solidFill>
              </a:rPr>
              <a:t>Koinis</a:t>
            </a:r>
            <a:r>
              <a:rPr lang="en-US" sz="1600" dirty="0">
                <a:solidFill>
                  <a:schemeClr val="bg1"/>
                </a:solidFill>
              </a:rPr>
              <a:t>-Mitchell D, Kopel SJ, </a:t>
            </a:r>
            <a:r>
              <a:rPr lang="en-US" sz="1600" dirty="0" err="1">
                <a:solidFill>
                  <a:schemeClr val="bg1"/>
                </a:solidFill>
              </a:rPr>
              <a:t>Dunsiger</a:t>
            </a:r>
            <a:r>
              <a:rPr lang="en-US" sz="1600" dirty="0">
                <a:solidFill>
                  <a:schemeClr val="bg1"/>
                </a:solidFill>
              </a:rPr>
              <a:t> S, et al. Asthma and Physical Activity in Urban Children. J </a:t>
            </a:r>
            <a:r>
              <a:rPr lang="en-US" sz="1600" dirty="0" err="1">
                <a:solidFill>
                  <a:schemeClr val="bg1"/>
                </a:solidFill>
              </a:rPr>
              <a:t>Pediatr</a:t>
            </a:r>
            <a:r>
              <a:rPr lang="en-US" sz="1600" dirty="0">
                <a:solidFill>
                  <a:schemeClr val="bg1"/>
                </a:solidFill>
              </a:rPr>
              <a:t> Psychol. Aug 19 2021;46(8):970-979. doi:10.1093/</a:t>
            </a:r>
            <a:r>
              <a:rPr lang="en-US" sz="1600" dirty="0" err="1">
                <a:solidFill>
                  <a:schemeClr val="bg1"/>
                </a:solidFill>
              </a:rPr>
              <a:t>jpepsy</a:t>
            </a:r>
            <a:r>
              <a:rPr lang="en-US" sz="1600" dirty="0">
                <a:solidFill>
                  <a:schemeClr val="bg1"/>
                </a:solidFill>
              </a:rPr>
              <a:t>/jsab023</a:t>
            </a:r>
          </a:p>
          <a:p>
            <a:endParaRPr lang="en-US" sz="1600" dirty="0">
              <a:solidFill>
                <a:schemeClr val="bg1"/>
              </a:solidFill>
            </a:endParaRPr>
          </a:p>
          <a:p>
            <a:r>
              <a:rPr lang="en-US" sz="1600" dirty="0">
                <a:solidFill>
                  <a:schemeClr val="bg1"/>
                </a:solidFill>
              </a:rPr>
              <a:t>5.	Marios Panagiotou NGK, Nikoletta Rovina. Physical Activity: A Missing Link in Asthma Care. </a:t>
            </a:r>
            <a:r>
              <a:rPr lang="en-US" sz="1600" dirty="0" err="1">
                <a:solidFill>
                  <a:schemeClr val="bg1"/>
                </a:solidFill>
              </a:rPr>
              <a:t>Clincial</a:t>
            </a:r>
            <a:r>
              <a:rPr lang="en-US" sz="1600" dirty="0">
                <a:solidFill>
                  <a:schemeClr val="bg1"/>
                </a:solidFill>
              </a:rPr>
              <a:t> Review. Journal of Clinical Medicine March 5, 2020 2020;9(3):19. </a:t>
            </a:r>
          </a:p>
          <a:p>
            <a:endParaRPr lang="en-US" sz="1600" dirty="0">
              <a:solidFill>
                <a:schemeClr val="bg1"/>
              </a:solidFill>
            </a:endParaRPr>
          </a:p>
          <a:p>
            <a:r>
              <a:rPr lang="en-US" sz="1600" dirty="0">
                <a:solidFill>
                  <a:schemeClr val="bg1"/>
                </a:solidFill>
              </a:rPr>
              <a:t>6.	Balatoni I, Kiss T, Balla G, Papp </a:t>
            </a:r>
            <a:r>
              <a:rPr lang="en-US" sz="1600" dirty="0" err="1">
                <a:solidFill>
                  <a:schemeClr val="bg1"/>
                </a:solidFill>
              </a:rPr>
              <a:t>Á</a:t>
            </a:r>
            <a:r>
              <a:rPr lang="en-US" sz="1600" dirty="0">
                <a:solidFill>
                  <a:schemeClr val="bg1"/>
                </a:solidFill>
              </a:rPr>
              <a:t>, Csernoch L. Assessment of the Physical Activity of Children with Asthma </a:t>
            </a:r>
            <a:r>
              <a:rPr lang="en-US" sz="1600" dirty="0" err="1">
                <a:solidFill>
                  <a:schemeClr val="bg1"/>
                </a:solidFill>
              </a:rPr>
              <a:t>Bronchiale</a:t>
            </a:r>
            <a:r>
              <a:rPr lang="en-US" sz="1600" dirty="0">
                <a:solidFill>
                  <a:schemeClr val="bg1"/>
                </a:solidFill>
              </a:rPr>
              <a:t>. Sports (Basel). Apr 22 2024;12(4)doi:10.3390/sports12040114</a:t>
            </a:r>
          </a:p>
          <a:p>
            <a:endParaRPr lang="en-US" sz="1600" dirty="0">
              <a:solidFill>
                <a:schemeClr val="bg1"/>
              </a:solidFill>
            </a:endParaRPr>
          </a:p>
          <a:p>
            <a:r>
              <a:rPr lang="en-US" sz="1600" dirty="0">
                <a:solidFill>
                  <a:schemeClr val="bg1"/>
                </a:solidFill>
              </a:rPr>
              <a:t>7.	González-</a:t>
            </a:r>
            <a:r>
              <a:rPr lang="en-US" sz="1600" dirty="0" err="1">
                <a:solidFill>
                  <a:schemeClr val="bg1"/>
                </a:solidFill>
              </a:rPr>
              <a:t>Devesa</a:t>
            </a:r>
            <a:r>
              <a:rPr lang="en-US" sz="1600" dirty="0">
                <a:solidFill>
                  <a:schemeClr val="bg1"/>
                </a:solidFill>
              </a:rPr>
              <a:t> D, Carballo-Afonso R, Sanchez-Lastra MA, </a:t>
            </a:r>
            <a:r>
              <a:rPr lang="en-US" sz="1600" dirty="0" err="1">
                <a:solidFill>
                  <a:schemeClr val="bg1"/>
                </a:solidFill>
              </a:rPr>
              <a:t>Ayán</a:t>
            </a:r>
            <a:r>
              <a:rPr lang="en-US" sz="1600" dirty="0">
                <a:solidFill>
                  <a:schemeClr val="bg1"/>
                </a:solidFill>
              </a:rPr>
              <a:t>-Pérez C. Barriers and facilitators to physical activity and exercise among individuals with asthma: a systematic review. Performance Enhancement &amp; Health. 2025/10/01/ 2025;13(4):100371. </a:t>
            </a:r>
            <a:r>
              <a:rPr lang="en-US" sz="1600" dirty="0" err="1">
                <a:solidFill>
                  <a:schemeClr val="bg1"/>
                </a:solidFill>
              </a:rPr>
              <a:t>doi:https</a:t>
            </a:r>
            <a:r>
              <a:rPr lang="en-US" sz="1600" dirty="0">
                <a:solidFill>
                  <a:schemeClr val="bg1"/>
                </a:solidFill>
              </a:rPr>
              <a:t>://</a:t>
            </a:r>
            <a:r>
              <a:rPr lang="en-US" sz="1600" dirty="0" err="1">
                <a:solidFill>
                  <a:schemeClr val="bg1"/>
                </a:solidFill>
              </a:rPr>
              <a:t>doi.org</a:t>
            </a:r>
            <a:r>
              <a:rPr lang="en-US" sz="1600" dirty="0">
                <a:solidFill>
                  <a:schemeClr val="bg1"/>
                </a:solidFill>
              </a:rPr>
              <a:t>/10.1016/j.peh.2025.100371</a:t>
            </a:r>
          </a:p>
          <a:p>
            <a:endParaRPr lang="en-US" sz="1600" dirty="0">
              <a:solidFill>
                <a:schemeClr val="bg1"/>
              </a:solidFill>
            </a:endParaRPr>
          </a:p>
          <a:p>
            <a:r>
              <a:rPr lang="en-US" sz="1600" dirty="0">
                <a:solidFill>
                  <a:schemeClr val="bg1"/>
                </a:solidFill>
              </a:rPr>
              <a:t>8.	Lu K, Sidell M, Li X, et al. Self-Reported Physical Activity and Asthma Risk in Children. J Allergy Clin Immunol </a:t>
            </a:r>
            <a:r>
              <a:rPr lang="en-US" sz="1600" dirty="0" err="1">
                <a:solidFill>
                  <a:schemeClr val="bg1"/>
                </a:solidFill>
              </a:rPr>
              <a:t>Pract</a:t>
            </a:r>
            <a:r>
              <a:rPr lang="en-US" sz="1600" dirty="0">
                <a:solidFill>
                  <a:schemeClr val="bg1"/>
                </a:solidFill>
              </a:rPr>
              <a:t>. Jan 2022;10(1):231-239.e3. doi:10.1016/j.jaip.2021.08.040</a:t>
            </a:r>
          </a:p>
          <a:p>
            <a:endParaRPr lang="en-US" sz="1600" dirty="0">
              <a:solidFill>
                <a:schemeClr val="bg1"/>
              </a:solidFill>
            </a:endParaRPr>
          </a:p>
          <a:p>
            <a:r>
              <a:rPr lang="en-US" sz="1600" dirty="0">
                <a:solidFill>
                  <a:schemeClr val="bg1"/>
                </a:solidFill>
              </a:rPr>
              <a:t>9.	 </a:t>
            </a:r>
            <a:r>
              <a:rPr lang="en-US" sz="1600" dirty="0" err="1">
                <a:solidFill>
                  <a:schemeClr val="bg1"/>
                </a:solidFill>
              </a:rPr>
              <a:t>Kornblit</a:t>
            </a:r>
            <a:r>
              <a:rPr lang="en-US" sz="1600" dirty="0">
                <a:solidFill>
                  <a:schemeClr val="bg1"/>
                </a:solidFill>
              </a:rPr>
              <a:t> A, Cain A, Bauman LJ, Brown NM, Reznik M. Parental Perspectives of Barriers to Physical Activity in Urban Schoolchildren With Asthma. </a:t>
            </a:r>
            <a:r>
              <a:rPr lang="en-US" sz="1600" dirty="0" err="1">
                <a:solidFill>
                  <a:schemeClr val="bg1"/>
                </a:solidFill>
              </a:rPr>
              <a:t>Acad</a:t>
            </a:r>
            <a:r>
              <a:rPr lang="en-US" sz="1600" dirty="0">
                <a:solidFill>
                  <a:schemeClr val="bg1"/>
                </a:solidFill>
              </a:rPr>
              <a:t> </a:t>
            </a:r>
            <a:r>
              <a:rPr lang="en-US" sz="1600" dirty="0" err="1">
                <a:solidFill>
                  <a:schemeClr val="bg1"/>
                </a:solidFill>
              </a:rPr>
              <a:t>Pediatr</a:t>
            </a:r>
            <a:r>
              <a:rPr lang="en-US" sz="1600" dirty="0">
                <a:solidFill>
                  <a:schemeClr val="bg1"/>
                </a:solidFill>
              </a:rPr>
              <a:t>. Apr 2018;18(3):310-316. doi:10.1016/j.acap.2017.12.011</a:t>
            </a:r>
          </a:p>
          <a:p>
            <a:endParaRPr lang="en-US" sz="1600" dirty="0">
              <a:solidFill>
                <a:schemeClr val="bg1"/>
              </a:solidFill>
            </a:endParaRPr>
          </a:p>
          <a:p>
            <a:r>
              <a:rPr lang="en-US" sz="1600" dirty="0">
                <a:solidFill>
                  <a:schemeClr val="bg1"/>
                </a:solidFill>
              </a:rPr>
              <a:t>10.	D'Agostino EM, Zhang S, Day SE, et al. The longitudinal association between asthma severity and physical fitness among new York City public school youth. Prev Med. May 2023;170:107486. doi:10.1016/j.ypmed.2023.107486</a:t>
            </a:r>
          </a:p>
          <a:p>
            <a:endParaRPr lang="en-US" sz="1600" dirty="0">
              <a:solidFill>
                <a:schemeClr val="bg1"/>
              </a:solidFill>
            </a:endParaRPr>
          </a:p>
          <a:p>
            <a:r>
              <a:rPr lang="en-US" sz="1600" dirty="0">
                <a:solidFill>
                  <a:schemeClr val="bg1"/>
                </a:solidFill>
              </a:rPr>
              <a:t>11.	Acciai F, DeWeese RS, Lloyd K, et al. The relationship between changes in neighborhood physical environment and changes in physical activity among children: a prospective cohort study. Int J </a:t>
            </a:r>
            <a:r>
              <a:rPr lang="en-US" sz="1600" dirty="0" err="1">
                <a:solidFill>
                  <a:schemeClr val="bg1"/>
                </a:solidFill>
              </a:rPr>
              <a:t>Behav</a:t>
            </a:r>
            <a:r>
              <a:rPr lang="en-US" sz="1600" dirty="0">
                <a:solidFill>
                  <a:schemeClr val="bg1"/>
                </a:solidFill>
              </a:rPr>
              <a:t> </a:t>
            </a:r>
            <a:r>
              <a:rPr lang="en-US" sz="1600" dirty="0" err="1">
                <a:solidFill>
                  <a:schemeClr val="bg1"/>
                </a:solidFill>
              </a:rPr>
              <a:t>Nutr</a:t>
            </a:r>
            <a:r>
              <a:rPr lang="en-US" sz="1600" dirty="0">
                <a:solidFill>
                  <a:schemeClr val="bg1"/>
                </a:solidFill>
              </a:rPr>
              <a:t> Phys Act. Jul 7 2023;20(1):82. doi:10.1186/s12966-023-01478-2</a:t>
            </a:r>
          </a:p>
          <a:p>
            <a:endParaRPr lang="en-US" sz="1600" dirty="0">
              <a:solidFill>
                <a:schemeClr val="bg1"/>
              </a:solidFill>
            </a:endParaRPr>
          </a:p>
          <a:p>
            <a:r>
              <a:rPr lang="en-US" sz="1600" dirty="0">
                <a:solidFill>
                  <a:schemeClr val="bg1"/>
                </a:solidFill>
              </a:rPr>
              <a:t>12.	Wagner BE, Zong Z, </a:t>
            </a:r>
            <a:r>
              <a:rPr lang="en-US" sz="1600" dirty="0" err="1">
                <a:solidFill>
                  <a:schemeClr val="bg1"/>
                </a:solidFill>
              </a:rPr>
              <a:t>Neshteruk</a:t>
            </a:r>
            <a:r>
              <a:rPr lang="en-US" sz="1600" dirty="0">
                <a:solidFill>
                  <a:schemeClr val="bg1"/>
                </a:solidFill>
              </a:rPr>
              <a:t> CD, D'Agostino EM. Association Between School Neighborhood Walkability and Adolescent Physical Activity. J Healthy Eat Act Living. 2025;5(2):161-170. </a:t>
            </a:r>
          </a:p>
          <a:p>
            <a:endParaRPr lang="en-US" sz="1600" dirty="0">
              <a:solidFill>
                <a:schemeClr val="bg1"/>
              </a:solidFill>
            </a:endParaRPr>
          </a:p>
          <a:p>
            <a:r>
              <a:rPr lang="en-US" sz="1600" dirty="0">
                <a:solidFill>
                  <a:schemeClr val="bg1"/>
                </a:solidFill>
              </a:rPr>
              <a:t>13.	Yang S, Xiang, C, Wang, L, Wu, T., Fei, T., Xiao, Q, Zhang, G., Jia, Y. N. Walkability indices and childhood obesity: A review of epidemiologic evidence. Obesity Reviews. July 27 2020;22(Suppl 1)doi:10.1111/obr.13096</a:t>
            </a:r>
          </a:p>
          <a:p>
            <a:endParaRPr lang="en-US" sz="1600" dirty="0">
              <a:solidFill>
                <a:schemeClr val="bg1"/>
              </a:solidFill>
            </a:endParaRPr>
          </a:p>
          <a:p>
            <a:r>
              <a:rPr lang="en-US" sz="1600" dirty="0">
                <a:solidFill>
                  <a:schemeClr val="bg1"/>
                </a:solidFill>
              </a:rPr>
              <a:t>14.	Wei J, Wu Y, Zheng J, Nie P, Jia P, Wang Y. Neighborhood sidewalk access and childhood obesity. </a:t>
            </a:r>
            <a:r>
              <a:rPr lang="en-US" sz="1600" dirty="0" err="1">
                <a:solidFill>
                  <a:schemeClr val="bg1"/>
                </a:solidFill>
              </a:rPr>
              <a:t>Obes</a:t>
            </a:r>
            <a:r>
              <a:rPr lang="en-US" sz="1600" dirty="0">
                <a:solidFill>
                  <a:schemeClr val="bg1"/>
                </a:solidFill>
              </a:rPr>
              <a:t> Rev. Feb 2021;22 Suppl 1(Suppl 1):e13057. doi:10.1111/obr.13057</a:t>
            </a:r>
          </a:p>
          <a:p>
            <a:endParaRPr lang="en-US" dirty="0"/>
          </a:p>
        </p:txBody>
      </p:sp>
    </p:spTree>
    <p:extLst>
      <p:ext uri="{BB962C8B-B14F-4D97-AF65-F5344CB8AC3E}">
        <p14:creationId xmlns:p14="http://schemas.microsoft.com/office/powerpoint/2010/main" val="447395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55446-FDBB-DE20-2F04-EEB2408183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A1C6B1-9795-AE3C-E57D-CD314153F77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dirty="0"/>
          </a:p>
        </p:txBody>
      </p:sp>
      <p:sp>
        <p:nvSpPr>
          <p:cNvPr id="3" name="AutoShape 3">
            <a:extLst>
              <a:ext uri="{FF2B5EF4-FFF2-40B4-BE49-F238E27FC236}">
                <a16:creationId xmlns:a16="http://schemas.microsoft.com/office/drawing/2014/main" id="{11D004BE-8BCB-968A-2268-B82B2C27B7F8}"/>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515C8DFD-816E-6A25-5C98-BB5E1D8C838B}"/>
              </a:ext>
            </a:extLst>
          </p:cNvPr>
          <p:cNvSpPr txBox="1"/>
          <p:nvPr/>
        </p:nvSpPr>
        <p:spPr>
          <a:xfrm>
            <a:off x="1295400" y="265670"/>
            <a:ext cx="8789291" cy="1526059"/>
          </a:xfrm>
          <a:prstGeom prst="rect">
            <a:avLst/>
          </a:prstGeom>
        </p:spPr>
        <p:txBody>
          <a:bodyPr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References </a:t>
            </a:r>
          </a:p>
        </p:txBody>
      </p:sp>
      <p:sp>
        <p:nvSpPr>
          <p:cNvPr id="9" name="TextBox 9">
            <a:extLst>
              <a:ext uri="{FF2B5EF4-FFF2-40B4-BE49-F238E27FC236}">
                <a16:creationId xmlns:a16="http://schemas.microsoft.com/office/drawing/2014/main" id="{77D735FD-6DCA-D4C1-F7DD-93A377E70D37}"/>
              </a:ext>
            </a:extLst>
          </p:cNvPr>
          <p:cNvSpPr txBox="1"/>
          <p:nvPr/>
        </p:nvSpPr>
        <p:spPr>
          <a:xfrm>
            <a:off x="1295400" y="2830021"/>
            <a:ext cx="15544800" cy="1242776"/>
          </a:xfrm>
          <a:prstGeom prst="rect">
            <a:avLst/>
          </a:prstGeom>
        </p:spPr>
        <p:txBody>
          <a:bodyPr wrap="square" lIns="0" tIns="0" rIns="0" bIns="0" rtlCol="0" anchor="t">
            <a:spAutoFit/>
          </a:bodyPr>
          <a:lstStyle/>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
        <p:nvSpPr>
          <p:cNvPr id="8" name="TextBox 7">
            <a:extLst>
              <a:ext uri="{FF2B5EF4-FFF2-40B4-BE49-F238E27FC236}">
                <a16:creationId xmlns:a16="http://schemas.microsoft.com/office/drawing/2014/main" id="{9A0F6E6D-8F6F-7324-A9ED-B400D21AB3F1}"/>
              </a:ext>
            </a:extLst>
          </p:cNvPr>
          <p:cNvSpPr txBox="1"/>
          <p:nvPr/>
        </p:nvSpPr>
        <p:spPr>
          <a:xfrm>
            <a:off x="952500" y="1658174"/>
            <a:ext cx="16230600" cy="9264075"/>
          </a:xfrm>
          <a:prstGeom prst="rect">
            <a:avLst/>
          </a:prstGeom>
          <a:noFill/>
        </p:spPr>
        <p:txBody>
          <a:bodyPr wrap="square">
            <a:spAutoFit/>
          </a:bodyPr>
          <a:lstStyle/>
          <a:p>
            <a:r>
              <a:rPr lang="en-US" sz="1600" dirty="0">
                <a:solidFill>
                  <a:schemeClr val="bg1"/>
                </a:solidFill>
              </a:rPr>
              <a:t>15.	Carlson JA, Sallis JF, Kerr J, et al. Built environment characteristics and parent active transportation are associated with active travel to school in youth age 12-15. Br J Sports Med. Dec 2014;48(22):1634-9. doi:10.1136/bjsports-2013-093101</a:t>
            </a:r>
          </a:p>
          <a:p>
            <a:endParaRPr lang="en-US" sz="1600" dirty="0">
              <a:solidFill>
                <a:schemeClr val="bg1"/>
              </a:solidFill>
            </a:endParaRPr>
          </a:p>
          <a:p>
            <a:r>
              <a:rPr lang="en-US" sz="1600" dirty="0">
                <a:solidFill>
                  <a:schemeClr val="bg1"/>
                </a:solidFill>
              </a:rPr>
              <a:t>16.	. Initiative </a:t>
            </a:r>
            <a:r>
              <a:rPr lang="en-US" sz="1600" dirty="0" err="1">
                <a:solidFill>
                  <a:schemeClr val="bg1"/>
                </a:solidFill>
              </a:rPr>
              <a:t>CaAHM</a:t>
            </a:r>
            <a:r>
              <a:rPr lang="en-US" sz="1600" dirty="0">
                <a:solidFill>
                  <a:schemeClr val="bg1"/>
                </a:solidFill>
              </a:rPr>
              <a:t>. Data from: 2023 National Survey of Children’s Health (NSCH). 2023. United States Census Bureau.</a:t>
            </a:r>
          </a:p>
          <a:p>
            <a:endParaRPr lang="en-US" sz="1600" dirty="0">
              <a:solidFill>
                <a:schemeClr val="bg1"/>
              </a:solidFill>
            </a:endParaRPr>
          </a:p>
          <a:p>
            <a:r>
              <a:rPr lang="en-US" sz="1600" dirty="0">
                <a:solidFill>
                  <a:schemeClr val="bg1"/>
                </a:solidFill>
              </a:rPr>
              <a:t>17.	Bureau USC. National Survey of Children’s Health Analysis with Multiply Imputed Data. United States Census Bureau.</a:t>
            </a:r>
          </a:p>
          <a:p>
            <a:endParaRPr lang="en-US" sz="1600" dirty="0">
              <a:solidFill>
                <a:schemeClr val="bg1"/>
              </a:solidFill>
            </a:endParaRPr>
          </a:p>
          <a:p>
            <a:r>
              <a:rPr lang="en-US" sz="1600" dirty="0">
                <a:solidFill>
                  <a:schemeClr val="bg1"/>
                </a:solidFill>
              </a:rPr>
              <a:t>18.	Chiarella SE, Garcia-</a:t>
            </a:r>
            <a:r>
              <a:rPr lang="en-US" sz="1600" dirty="0" err="1">
                <a:solidFill>
                  <a:schemeClr val="bg1"/>
                </a:solidFill>
              </a:rPr>
              <a:t>Guaqueta</a:t>
            </a:r>
            <a:r>
              <a:rPr lang="en-US" sz="1600" dirty="0">
                <a:solidFill>
                  <a:schemeClr val="bg1"/>
                </a:solidFill>
              </a:rPr>
              <a:t> DP, Drake LY, et al. Sex differences in sociodemographic, clinical, and laboratory variables in childhood asthma: A birth cohort study. Annals of Allergy, Asthma &amp; Immunology. 2024/10/01/ 2024;133(4):403-412.e2. </a:t>
            </a:r>
            <a:r>
              <a:rPr lang="en-US" sz="1600" dirty="0" err="1">
                <a:solidFill>
                  <a:schemeClr val="bg1"/>
                </a:solidFill>
              </a:rPr>
              <a:t>doi:https</a:t>
            </a:r>
            <a:r>
              <a:rPr lang="en-US" sz="1600" dirty="0">
                <a:solidFill>
                  <a:schemeClr val="bg1"/>
                </a:solidFill>
              </a:rPr>
              <a:t>://</a:t>
            </a:r>
            <a:r>
              <a:rPr lang="en-US" sz="1600" dirty="0" err="1">
                <a:solidFill>
                  <a:schemeClr val="bg1"/>
                </a:solidFill>
              </a:rPr>
              <a:t>doi.org</a:t>
            </a:r>
            <a:r>
              <a:rPr lang="en-US" sz="1600" dirty="0">
                <a:solidFill>
                  <a:schemeClr val="bg1"/>
                </a:solidFill>
              </a:rPr>
              <a:t>/10.1016/j.anai.2024.07.005</a:t>
            </a:r>
          </a:p>
          <a:p>
            <a:endParaRPr lang="en-US" sz="1600" dirty="0">
              <a:solidFill>
                <a:schemeClr val="bg1"/>
              </a:solidFill>
            </a:endParaRPr>
          </a:p>
          <a:p>
            <a:r>
              <a:rPr lang="en-US" sz="1600" dirty="0">
                <a:solidFill>
                  <a:schemeClr val="bg1"/>
                </a:solidFill>
              </a:rPr>
              <a:t>19.	Fu L, Freishtat RJ, Gordish-Dressman H, et al. Natural progression of childhood asthma symptoms and strong influence of sex and puberty. Ann Am </a:t>
            </a:r>
            <a:r>
              <a:rPr lang="en-US" sz="1600" dirty="0" err="1">
                <a:solidFill>
                  <a:schemeClr val="bg1"/>
                </a:solidFill>
              </a:rPr>
              <a:t>Thorac</a:t>
            </a:r>
            <a:r>
              <a:rPr lang="en-US" sz="1600" dirty="0">
                <a:solidFill>
                  <a:schemeClr val="bg1"/>
                </a:solidFill>
              </a:rPr>
              <a:t> Soc. Jul 2014;11(6):939-44. doi:10.1513/AnnalsATS.201402-084OC</a:t>
            </a:r>
          </a:p>
          <a:p>
            <a:endParaRPr lang="en-US" sz="1600" dirty="0">
              <a:solidFill>
                <a:schemeClr val="bg1"/>
              </a:solidFill>
            </a:endParaRPr>
          </a:p>
          <a:p>
            <a:r>
              <a:rPr lang="en-US" sz="1600" dirty="0">
                <a:solidFill>
                  <a:schemeClr val="bg1"/>
                </a:solidFill>
              </a:rPr>
              <a:t>20.	McKernan KE, </a:t>
            </a:r>
            <a:r>
              <a:rPr lang="en-US" sz="1600" dirty="0" err="1">
                <a:solidFill>
                  <a:schemeClr val="bg1"/>
                </a:solidFill>
              </a:rPr>
              <a:t>Pilier</a:t>
            </a:r>
            <a:r>
              <a:rPr lang="en-US" sz="1600" dirty="0">
                <a:solidFill>
                  <a:schemeClr val="bg1"/>
                </a:solidFill>
              </a:rPr>
              <a:t> EH, Newcomb DC. Sex Differences in Asthma Pathogenesis. Immunol Rev. Jan 2026;337(1):e70100. doi:10.1111/imr.70100</a:t>
            </a:r>
          </a:p>
          <a:p>
            <a:endParaRPr lang="en-US" sz="1600" dirty="0">
              <a:solidFill>
                <a:schemeClr val="bg1"/>
              </a:solidFill>
            </a:endParaRPr>
          </a:p>
          <a:p>
            <a:r>
              <a:rPr lang="en-US" sz="1600" dirty="0">
                <a:solidFill>
                  <a:schemeClr val="bg1"/>
                </a:solidFill>
              </a:rPr>
              <a:t>21.	Devonshire AL, Kumar R. Pediatric asthma: Principles and treatment. Allergy Asthma Proc. Nov 1 2019;40(6):389-392. doi:10.2500/aap.2019.40.4254</a:t>
            </a:r>
          </a:p>
          <a:p>
            <a:endParaRPr lang="en-US" sz="1600" dirty="0">
              <a:solidFill>
                <a:schemeClr val="bg1"/>
              </a:solidFill>
            </a:endParaRPr>
          </a:p>
          <a:p>
            <a:r>
              <a:rPr lang="en-US" sz="1600" dirty="0">
                <a:solidFill>
                  <a:schemeClr val="bg1"/>
                </a:solidFill>
              </a:rPr>
              <a:t>22.	Al-Shoaibi AAA, Iyra P, Raney JH, et al. Associations Between Adverse Childhood Experiences and Early Adolescent Physical Activity in the United States. </a:t>
            </a:r>
            <a:r>
              <a:rPr lang="en-US" sz="1600" dirty="0" err="1">
                <a:solidFill>
                  <a:schemeClr val="bg1"/>
                </a:solidFill>
              </a:rPr>
              <a:t>Acad</a:t>
            </a:r>
            <a:r>
              <a:rPr lang="en-US" sz="1600" dirty="0">
                <a:solidFill>
                  <a:schemeClr val="bg1"/>
                </a:solidFill>
              </a:rPr>
              <a:t> </a:t>
            </a:r>
            <a:r>
              <a:rPr lang="en-US" sz="1600" dirty="0" err="1">
                <a:solidFill>
                  <a:schemeClr val="bg1"/>
                </a:solidFill>
              </a:rPr>
              <a:t>Pediatr</a:t>
            </a:r>
            <a:r>
              <a:rPr lang="en-US" sz="1600" dirty="0">
                <a:solidFill>
                  <a:schemeClr val="bg1"/>
                </a:solidFill>
              </a:rPr>
              <a:t>. May-Jun 2024;24(4):662-668. doi:10.1016/j.acap.2023.10.004</a:t>
            </a:r>
          </a:p>
          <a:p>
            <a:endParaRPr lang="en-US" sz="1600" dirty="0">
              <a:solidFill>
                <a:schemeClr val="bg1"/>
              </a:solidFill>
            </a:endParaRPr>
          </a:p>
          <a:p>
            <a:r>
              <a:rPr lang="en-US" sz="1600" dirty="0">
                <a:solidFill>
                  <a:schemeClr val="bg1"/>
                </a:solidFill>
              </a:rPr>
              <a:t>23.	Hadwen B, Pila E, Thornton J. The Associations Between Adverse Childhood Experiences, Physical and Mental Health, and Physical Activity: A Scoping Review. J Phys Act Health. Dec 1 2022;19(12):847-854. doi:10.1123/jpah.2022-0298</a:t>
            </a:r>
          </a:p>
          <a:p>
            <a:endParaRPr lang="en-US" sz="1600" dirty="0">
              <a:solidFill>
                <a:schemeClr val="bg1"/>
              </a:solidFill>
            </a:endParaRPr>
          </a:p>
          <a:p>
            <a:r>
              <a:rPr lang="en-US" sz="1600" dirty="0">
                <a:solidFill>
                  <a:schemeClr val="bg1"/>
                </a:solidFill>
              </a:rPr>
              <a:t>24.	Zhu J, Kodali H, Wyka KE, Huang TT. Perceived neighborhood environment walkability and health-related quality of life among predominantly Black and Latino adults in New York City. BMC Public Health. Jan 18 2023;23(1):127. doi:10.1186/s12889-022-14973-1</a:t>
            </a:r>
          </a:p>
          <a:p>
            <a:endParaRPr lang="en-US" sz="1600" dirty="0">
              <a:solidFill>
                <a:schemeClr val="bg1"/>
              </a:solidFill>
            </a:endParaRPr>
          </a:p>
          <a:p>
            <a:r>
              <a:rPr lang="en-US" sz="1600" dirty="0">
                <a:solidFill>
                  <a:schemeClr val="bg1"/>
                </a:solidFill>
              </a:rPr>
              <a:t>25.	Simons E, Dell SD, </a:t>
            </a:r>
            <a:r>
              <a:rPr lang="en-US" sz="1600" dirty="0" err="1">
                <a:solidFill>
                  <a:schemeClr val="bg1"/>
                </a:solidFill>
              </a:rPr>
              <a:t>Moineddin</a:t>
            </a:r>
            <a:r>
              <a:rPr lang="en-US" sz="1600" dirty="0">
                <a:solidFill>
                  <a:schemeClr val="bg1"/>
                </a:solidFill>
              </a:rPr>
              <a:t> R, To T. Associations between Neighborhood Walkability and Incident and Ongoing Asthma in Children. Ann Am </a:t>
            </a:r>
            <a:r>
              <a:rPr lang="en-US" sz="1600" dirty="0" err="1">
                <a:solidFill>
                  <a:schemeClr val="bg1"/>
                </a:solidFill>
              </a:rPr>
              <a:t>Thorac</a:t>
            </a:r>
            <a:r>
              <a:rPr lang="en-US" sz="1600" dirty="0">
                <a:solidFill>
                  <a:schemeClr val="bg1"/>
                </a:solidFill>
              </a:rPr>
              <a:t> Soc. Jun 2018;15(6):728-734. doi:10.1513/AnnalsATS.201708-693OC</a:t>
            </a:r>
          </a:p>
          <a:p>
            <a:endParaRPr lang="en-US" sz="1600" dirty="0">
              <a:solidFill>
                <a:schemeClr val="bg1"/>
              </a:solidFill>
            </a:endParaRPr>
          </a:p>
          <a:p>
            <a:r>
              <a:rPr lang="en-US" sz="1600" dirty="0">
                <a:solidFill>
                  <a:schemeClr val="bg1"/>
                </a:solidFill>
              </a:rPr>
              <a:t>26.	Simons E, Dell S, </a:t>
            </a:r>
            <a:r>
              <a:rPr lang="en-US" sz="1600" dirty="0" err="1">
                <a:solidFill>
                  <a:schemeClr val="bg1"/>
                </a:solidFill>
              </a:rPr>
              <a:t>Moineddin</a:t>
            </a:r>
            <a:r>
              <a:rPr lang="en-US" sz="1600" dirty="0">
                <a:solidFill>
                  <a:schemeClr val="bg1"/>
                </a:solidFill>
              </a:rPr>
              <a:t> R, To T. Longitudinal associations between </a:t>
            </a:r>
            <a:r>
              <a:rPr lang="en-US" sz="1600" dirty="0" err="1">
                <a:solidFill>
                  <a:schemeClr val="bg1"/>
                </a:solidFill>
              </a:rPr>
              <a:t>neighbourhood</a:t>
            </a:r>
            <a:r>
              <a:rPr lang="en-US" sz="1600" dirty="0">
                <a:solidFill>
                  <a:schemeClr val="bg1"/>
                </a:solidFill>
              </a:rPr>
              <a:t> walkability and incident childhood asthma. Allergy Asthma Clin Immunol. 2014;10(Suppl 1):A8. doi:10.1186/1710-1492-10-s1-a8</a:t>
            </a:r>
          </a:p>
          <a:p>
            <a:endParaRPr lang="en-US" sz="1600" dirty="0">
              <a:solidFill>
                <a:schemeClr val="bg1"/>
              </a:solidFill>
            </a:endParaRPr>
          </a:p>
          <a:p>
            <a:r>
              <a:rPr lang="en-US" sz="1600" dirty="0">
                <a:solidFill>
                  <a:schemeClr val="bg1"/>
                </a:solidFill>
              </a:rPr>
              <a:t>27.	An R, Yang Y, Li K. Residential Neighborhood Amenities and Physical Activity Among U.S. Children with Special Health Care Needs. Maternal &amp; Child Health Journal. 2017;21(5):1026-1036. doi:10.1007/s10995-016-2198-3</a:t>
            </a:r>
          </a:p>
          <a:p>
            <a:endParaRPr lang="en-US" dirty="0"/>
          </a:p>
          <a:p>
            <a:endParaRPr lang="en-US" dirty="0"/>
          </a:p>
        </p:txBody>
      </p:sp>
    </p:spTree>
    <p:extLst>
      <p:ext uri="{BB962C8B-B14F-4D97-AF65-F5344CB8AC3E}">
        <p14:creationId xmlns:p14="http://schemas.microsoft.com/office/powerpoint/2010/main" val="1882135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5A0DA-5E30-6396-693F-B3440B6471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DBC09F3-F4B5-4B05-253B-5F033FE1864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AutoShape 3">
            <a:extLst>
              <a:ext uri="{FF2B5EF4-FFF2-40B4-BE49-F238E27FC236}">
                <a16:creationId xmlns:a16="http://schemas.microsoft.com/office/drawing/2014/main" id="{C832BA5A-47AF-A6AD-5915-86338B85E778}"/>
              </a:ext>
            </a:extLst>
          </p:cNvPr>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7" name="TextBox 7">
            <a:extLst>
              <a:ext uri="{FF2B5EF4-FFF2-40B4-BE49-F238E27FC236}">
                <a16:creationId xmlns:a16="http://schemas.microsoft.com/office/drawing/2014/main" id="{6D9641B5-AF9B-CE2E-E8BF-7FD7E8733F64}"/>
              </a:ext>
            </a:extLst>
          </p:cNvPr>
          <p:cNvSpPr txBox="1"/>
          <p:nvPr/>
        </p:nvSpPr>
        <p:spPr>
          <a:xfrm>
            <a:off x="1295400" y="265670"/>
            <a:ext cx="13868400" cy="1526059"/>
          </a:xfrm>
          <a:prstGeom prst="rect">
            <a:avLst/>
          </a:prstGeom>
        </p:spPr>
        <p:txBody>
          <a:bodyPr wrap="square" lIns="0" tIns="0" rIns="0" bIns="0" rtlCol="0" anchor="t">
            <a:spAutoFit/>
          </a:bodyPr>
          <a:lstStyle/>
          <a:p>
            <a:pPr algn="l">
              <a:lnSpc>
                <a:spcPts val="11911"/>
              </a:lnSpc>
            </a:pPr>
            <a:r>
              <a:rPr lang="en-US" sz="10928" b="1" spc="-710" dirty="0">
                <a:solidFill>
                  <a:srgbClr val="FFFFFF"/>
                </a:solidFill>
                <a:latin typeface="Open Sauce Bold"/>
                <a:ea typeface="Open Sauce Bold"/>
                <a:cs typeface="Open Sauce Bold"/>
                <a:sym typeface="Open Sauce Bold"/>
              </a:rPr>
              <a:t>Acknowledgements </a:t>
            </a:r>
          </a:p>
        </p:txBody>
      </p:sp>
      <p:sp>
        <p:nvSpPr>
          <p:cNvPr id="9" name="TextBox 9">
            <a:extLst>
              <a:ext uri="{FF2B5EF4-FFF2-40B4-BE49-F238E27FC236}">
                <a16:creationId xmlns:a16="http://schemas.microsoft.com/office/drawing/2014/main" id="{4FDF9F68-FF20-98EE-8EB4-6EF54D010102}"/>
              </a:ext>
            </a:extLst>
          </p:cNvPr>
          <p:cNvSpPr txBox="1"/>
          <p:nvPr/>
        </p:nvSpPr>
        <p:spPr>
          <a:xfrm>
            <a:off x="1295400" y="2830021"/>
            <a:ext cx="15544800" cy="6782754"/>
          </a:xfrm>
          <a:prstGeom prst="rect">
            <a:avLst/>
          </a:prstGeom>
        </p:spPr>
        <p:txBody>
          <a:bodyPr wrap="square" lIns="0" tIns="0" rIns="0" bIns="0" rtlCol="0" anchor="t">
            <a:spAutoFit/>
          </a:bodyPr>
          <a:lstStyle/>
          <a:p>
            <a:pPr marL="342900" lvl="0" indent="-342900" algn="l">
              <a:lnSpc>
                <a:spcPct val="200000"/>
              </a:lnSpc>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Dr. Chloe </a:t>
            </a:r>
            <a:r>
              <a:rPr lang="en-US" sz="4000" u="none" strike="noStrike" spc="-59" dirty="0" err="1">
                <a:solidFill>
                  <a:srgbClr val="FFFFFF"/>
                </a:solidFill>
                <a:ea typeface="Open Sans 1"/>
                <a:cs typeface="Open Sans 1"/>
                <a:sym typeface="Open Sans 1"/>
              </a:rPr>
              <a:t>Mirzayi</a:t>
            </a:r>
            <a:endParaRPr lang="en-US" sz="4000" spc="-59" dirty="0">
              <a:solidFill>
                <a:srgbClr val="FFFFFF"/>
              </a:solidFill>
              <a:ea typeface="Open Sans 1"/>
              <a:cs typeface="Open Sans 1"/>
              <a:sym typeface="Open Sans 1"/>
            </a:endParaRPr>
          </a:p>
          <a:p>
            <a:pPr marL="342900" lvl="0" indent="-342900" algn="l">
              <a:lnSpc>
                <a:spcPct val="200000"/>
              </a:lnSpc>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TA: Eslam </a:t>
            </a:r>
            <a:r>
              <a:rPr lang="en-US" sz="4000" u="none" strike="noStrike" spc="-59" dirty="0" err="1">
                <a:solidFill>
                  <a:srgbClr val="FFFFFF"/>
                </a:solidFill>
                <a:ea typeface="Open Sans 1"/>
                <a:cs typeface="Open Sans 1"/>
                <a:sym typeface="Open Sans 1"/>
              </a:rPr>
              <a:t>Abousamra</a:t>
            </a:r>
            <a:endParaRPr lang="en-US" sz="4000" u="none" strike="noStrike" spc="-59" dirty="0">
              <a:solidFill>
                <a:srgbClr val="FFFFFF"/>
              </a:solidFill>
              <a:ea typeface="Open Sans 1"/>
              <a:cs typeface="Open Sans 1"/>
              <a:sym typeface="Open Sans 1"/>
            </a:endParaRPr>
          </a:p>
          <a:p>
            <a:pPr marL="342900" lvl="0" indent="-342900" algn="l">
              <a:lnSpc>
                <a:spcPct val="200000"/>
              </a:lnSpc>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My family, friends, and co-workers</a:t>
            </a:r>
          </a:p>
          <a:p>
            <a:pPr marL="342900" lvl="0" indent="-342900" algn="l">
              <a:lnSpc>
                <a:spcPct val="200000"/>
              </a:lnSpc>
              <a:spcBef>
                <a:spcPct val="0"/>
              </a:spcBef>
              <a:buFont typeface="Arial" panose="020B0604020202020204" pitchFamily="34" charset="0"/>
              <a:buChar char="•"/>
            </a:pPr>
            <a:r>
              <a:rPr lang="en-US" sz="4000" u="none" strike="noStrike" spc="-59" dirty="0">
                <a:solidFill>
                  <a:srgbClr val="FFFFFF"/>
                </a:solidFill>
                <a:ea typeface="Open Sans 1"/>
                <a:cs typeface="Open Sans 1"/>
                <a:sym typeface="Open Sans 1"/>
              </a:rPr>
              <a:t>My peers especially Makayla, and Deep</a:t>
            </a: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342900" lvl="0" indent="-342900" algn="l">
              <a:spcBef>
                <a:spcPct val="0"/>
              </a:spcBef>
              <a:buFont typeface="Arial" panose="020B0604020202020204" pitchFamily="34" charset="0"/>
              <a:buChar char="•"/>
            </a:pPr>
            <a:endParaRPr lang="en-US" sz="4000" u="none" strike="noStrike" spc="-59" dirty="0">
              <a:solidFill>
                <a:srgbClr val="FFFFFF"/>
              </a:solidFill>
              <a:ea typeface="Open Sans 1"/>
              <a:cs typeface="Open Sans 1"/>
              <a:sym typeface="Open Sans 1"/>
            </a:endParaRPr>
          </a:p>
          <a:p>
            <a:pPr marL="0" lvl="0" indent="0" algn="l">
              <a:lnSpc>
                <a:spcPts val="2499"/>
              </a:lnSpc>
              <a:spcBef>
                <a:spcPct val="0"/>
              </a:spcBef>
            </a:pPr>
            <a:endParaRPr lang="en-US" sz="1999" u="none" strike="noStrike" spc="-59" dirty="0">
              <a:solidFill>
                <a:srgbClr val="FFFFFF"/>
              </a:solidFill>
              <a:latin typeface="Open Sans 1"/>
              <a:ea typeface="Open Sans 1"/>
              <a:cs typeface="Open Sans 1"/>
              <a:sym typeface="Open Sans 1"/>
            </a:endParaRPr>
          </a:p>
          <a:p>
            <a:pPr marL="0" lvl="0" indent="0" algn="l">
              <a:lnSpc>
                <a:spcPts val="2499"/>
              </a:lnSpc>
              <a:spcBef>
                <a:spcPct val="0"/>
              </a:spcBef>
            </a:pPr>
            <a:r>
              <a:rPr lang="en-US" sz="1999" u="none" strike="noStrike" spc="-59" dirty="0">
                <a:solidFill>
                  <a:srgbClr val="FFFFFF"/>
                </a:solidFill>
                <a:latin typeface="Open Sans 1"/>
                <a:ea typeface="Open Sans 1"/>
                <a:cs typeface="Open Sans 1"/>
                <a:sym typeface="Open Sans 1"/>
              </a:rPr>
              <a:t>.</a:t>
            </a:r>
          </a:p>
        </p:txBody>
      </p:sp>
    </p:spTree>
    <p:extLst>
      <p:ext uri="{BB962C8B-B14F-4D97-AF65-F5344CB8AC3E}">
        <p14:creationId xmlns:p14="http://schemas.microsoft.com/office/powerpoint/2010/main" val="1880576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AutoShape 3"/>
          <p:cNvSpPr/>
          <p:nvPr/>
        </p:nvSpPr>
        <p:spPr>
          <a:xfrm flipV="1">
            <a:off x="1028700" y="1559521"/>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4" name="AutoShape 4"/>
          <p:cNvSpPr/>
          <p:nvPr/>
        </p:nvSpPr>
        <p:spPr>
          <a:xfrm flipV="1">
            <a:off x="1028700" y="8723290"/>
            <a:ext cx="16230600" cy="0"/>
          </a:xfrm>
          <a:prstGeom prst="line">
            <a:avLst/>
          </a:prstGeom>
          <a:ln w="19050" cap="flat">
            <a:solidFill>
              <a:srgbClr val="FFFFFF"/>
            </a:solidFill>
            <a:prstDash val="solid"/>
            <a:headEnd type="none" w="sm" len="sm"/>
            <a:tailEnd type="none" w="sm" len="sm"/>
          </a:ln>
        </p:spPr>
        <p:txBody>
          <a:bodyPr/>
          <a:lstStyle/>
          <a:p>
            <a:endParaRPr lang="en-US"/>
          </a:p>
        </p:txBody>
      </p:sp>
      <p:sp>
        <p:nvSpPr>
          <p:cNvPr id="6" name="TextBox 6"/>
          <p:cNvSpPr txBox="1"/>
          <p:nvPr/>
        </p:nvSpPr>
        <p:spPr>
          <a:xfrm>
            <a:off x="13826818" y="981075"/>
            <a:ext cx="2264569" cy="349250"/>
          </a:xfrm>
          <a:prstGeom prst="rect">
            <a:avLst/>
          </a:prstGeom>
        </p:spPr>
        <p:txBody>
          <a:bodyPr lIns="0" tIns="0" rIns="0" bIns="0" rtlCol="0" anchor="t">
            <a:spAutoFit/>
          </a:bodyPr>
          <a:lstStyle/>
          <a:p>
            <a:pPr algn="l">
              <a:lnSpc>
                <a:spcPts val="2800"/>
              </a:lnSpc>
            </a:pPr>
            <a:r>
              <a:rPr lang="en-US" sz="2000" spc="-88">
                <a:solidFill>
                  <a:srgbClr val="FFFFFF"/>
                </a:solidFill>
                <a:latin typeface="Open Sans 1"/>
                <a:ea typeface="Open Sans 1"/>
                <a:cs typeface="Open Sans 1"/>
                <a:sym typeface="Open Sans 1"/>
              </a:rPr>
              <a:t>Presented by : </a:t>
            </a:r>
          </a:p>
        </p:txBody>
      </p:sp>
      <p:sp>
        <p:nvSpPr>
          <p:cNvPr id="7" name="TextBox 7"/>
          <p:cNvSpPr txBox="1"/>
          <p:nvPr/>
        </p:nvSpPr>
        <p:spPr>
          <a:xfrm>
            <a:off x="15493387" y="981075"/>
            <a:ext cx="2264569" cy="335541"/>
          </a:xfrm>
          <a:prstGeom prst="rect">
            <a:avLst/>
          </a:prstGeom>
        </p:spPr>
        <p:txBody>
          <a:bodyPr lIns="0" tIns="0" rIns="0" bIns="0" rtlCol="0" anchor="t">
            <a:spAutoFit/>
          </a:bodyPr>
          <a:lstStyle/>
          <a:p>
            <a:pPr algn="l">
              <a:lnSpc>
                <a:spcPts val="2800"/>
              </a:lnSpc>
            </a:pPr>
            <a:r>
              <a:rPr lang="en-US" sz="2000" b="1" spc="-88" dirty="0">
                <a:solidFill>
                  <a:srgbClr val="FFFFFF"/>
                </a:solidFill>
                <a:latin typeface="Open Sans 1 Bold"/>
                <a:ea typeface="Open Sans 1 Bold"/>
                <a:cs typeface="Open Sans 1 Bold"/>
                <a:sym typeface="Open Sans 1 Bold"/>
              </a:rPr>
              <a:t>Eileen M. Murray</a:t>
            </a:r>
          </a:p>
        </p:txBody>
      </p:sp>
      <p:sp>
        <p:nvSpPr>
          <p:cNvPr id="8" name="TextBox 8"/>
          <p:cNvSpPr txBox="1"/>
          <p:nvPr/>
        </p:nvSpPr>
        <p:spPr>
          <a:xfrm>
            <a:off x="0" y="3621110"/>
            <a:ext cx="18303277" cy="3292430"/>
          </a:xfrm>
          <a:prstGeom prst="rect">
            <a:avLst/>
          </a:prstGeom>
        </p:spPr>
        <p:txBody>
          <a:bodyPr lIns="0" tIns="0" rIns="0" bIns="0" rtlCol="0" anchor="t">
            <a:spAutoFit/>
          </a:bodyPr>
          <a:lstStyle/>
          <a:p>
            <a:pPr marL="0" lvl="0" indent="0" algn="ctr">
              <a:lnSpc>
                <a:spcPts val="25378"/>
              </a:lnSpc>
            </a:pPr>
            <a:r>
              <a:rPr lang="en-US" sz="23283" b="1" spc="-1513">
                <a:solidFill>
                  <a:srgbClr val="FFFFFF"/>
                </a:solidFill>
                <a:latin typeface="Open Sauce Bold"/>
                <a:ea typeface="Open Sauce Bold"/>
                <a:cs typeface="Open Sauce Bold"/>
                <a:sym typeface="Open Sauce Bold"/>
              </a:rPr>
              <a:t>Thank You</a:t>
            </a:r>
          </a:p>
        </p:txBody>
      </p:sp>
      <p:pic>
        <p:nvPicPr>
          <p:cNvPr id="16" name="Picture 1">
            <a:extLst>
              <a:ext uri="{FF2B5EF4-FFF2-40B4-BE49-F238E27FC236}">
                <a16:creationId xmlns:a16="http://schemas.microsoft.com/office/drawing/2014/main" id="{63542EC0-F48C-9BAB-34B3-886AF5429A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316761"/>
            <a:ext cx="6129427" cy="1013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939</TotalTime>
  <Words>2893</Words>
  <Application>Microsoft Macintosh PowerPoint</Application>
  <PresentationFormat>Custom</PresentationFormat>
  <Paragraphs>201</Paragraphs>
  <Slides>13</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Open Sans 1</vt:lpstr>
      <vt:lpstr>Aileron</vt:lpstr>
      <vt:lpstr>Open Sans 1 Bold</vt:lpstr>
      <vt:lpstr>Arial</vt:lpstr>
      <vt:lpstr>Open Sauce</vt:lpstr>
      <vt:lpstr>Open Sauce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Company Research Proposal Presentation</dc:title>
  <cp:lastModifiedBy>Eileen Murray</cp:lastModifiedBy>
  <cp:revision>4</cp:revision>
  <dcterms:created xsi:type="dcterms:W3CDTF">2006-08-16T00:00:00Z</dcterms:created>
  <dcterms:modified xsi:type="dcterms:W3CDTF">2026-07-24T01:02:17Z</dcterms:modified>
  <dc:identifier>DAHI5Xtz2qI</dc:identifier>
</cp:coreProperties>
</file>